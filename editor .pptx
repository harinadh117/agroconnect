
<file path=[Content_Types].xml><?xml version="1.0" encoding="utf-8"?>
<Types xmlns="http://schemas.openxmlformats.org/package/2006/content-types">
  <Default ContentType="application/xml" Extension="xml"/>
  <Default ContentType="image/png" Extension="png"/>
  <Default ContentType="image/jpeg" Extension="jpe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9144000"/>
  <p:notesSz cx="6858000" cy="9144000"/>
  <p:defaultTextStyle>
    <a:defPPr lvl="0">
      <a:defRPr lang="en-US"/>
    </a:defPPr>
    <a:lvl1pPr defTabSz="457200" eaLnBrk="1" hangingPunct="1" latinLnBrk="0" lvl="0" marL="0" rtl="0" algn="l">
      <a:defRPr kern="1200" sz="1800">
        <a:solidFill>
          <a:schemeClr val="tx1"/>
        </a:solidFill>
        <a:latin typeface="+mn-lt"/>
        <a:ea typeface="+mn-ea"/>
        <a:cs typeface="+mn-cs"/>
      </a:defRPr>
    </a:lvl1pPr>
    <a:lvl2pPr defTabSz="457200" eaLnBrk="1" hangingPunct="1" latinLnBrk="0" lvl="1" marL="457200" rtl="0" algn="l">
      <a:defRPr kern="1200" sz="1800">
        <a:solidFill>
          <a:schemeClr val="tx1"/>
        </a:solidFill>
        <a:latin typeface="+mn-lt"/>
        <a:ea typeface="+mn-ea"/>
        <a:cs typeface="+mn-cs"/>
      </a:defRPr>
    </a:lvl2pPr>
    <a:lvl3pPr defTabSz="457200" eaLnBrk="1" hangingPunct="1" latinLnBrk="0" lvl="2" marL="914400" rtl="0" algn="l">
      <a:defRPr kern="1200" sz="1800">
        <a:solidFill>
          <a:schemeClr val="tx1"/>
        </a:solidFill>
        <a:latin typeface="+mn-lt"/>
        <a:ea typeface="+mn-ea"/>
        <a:cs typeface="+mn-cs"/>
      </a:defRPr>
    </a:lvl3pPr>
    <a:lvl4pPr defTabSz="457200" eaLnBrk="1" hangingPunct="1" latinLnBrk="0" lvl="3" marL="1371600" rtl="0" algn="l">
      <a:defRPr kern="1200" sz="1800">
        <a:solidFill>
          <a:schemeClr val="tx1"/>
        </a:solidFill>
        <a:latin typeface="+mn-lt"/>
        <a:ea typeface="+mn-ea"/>
        <a:cs typeface="+mn-cs"/>
      </a:defRPr>
    </a:lvl4pPr>
    <a:lvl5pPr defTabSz="457200" eaLnBrk="1" hangingPunct="1" latinLnBrk="0" lvl="4" marL="1828800" rtl="0" algn="l">
      <a:defRPr kern="1200" sz="1800">
        <a:solidFill>
          <a:schemeClr val="tx1"/>
        </a:solidFill>
        <a:latin typeface="+mn-lt"/>
        <a:ea typeface="+mn-ea"/>
        <a:cs typeface="+mn-cs"/>
      </a:defRPr>
    </a:lvl5pPr>
    <a:lvl6pPr defTabSz="457200" eaLnBrk="1" hangingPunct="1" latinLnBrk="0" lvl="5" marL="2286000" rtl="0" algn="l">
      <a:defRPr kern="1200" sz="1800">
        <a:solidFill>
          <a:schemeClr val="tx1"/>
        </a:solidFill>
        <a:latin typeface="+mn-lt"/>
        <a:ea typeface="+mn-ea"/>
        <a:cs typeface="+mn-cs"/>
      </a:defRPr>
    </a:lvl6pPr>
    <a:lvl7pPr defTabSz="457200" eaLnBrk="1" hangingPunct="1" latinLnBrk="0" lvl="6" marL="2743200" rtl="0" algn="l">
      <a:defRPr kern="1200" sz="1800">
        <a:solidFill>
          <a:schemeClr val="tx1"/>
        </a:solidFill>
        <a:latin typeface="+mn-lt"/>
        <a:ea typeface="+mn-ea"/>
        <a:cs typeface="+mn-cs"/>
      </a:defRPr>
    </a:lvl7pPr>
    <a:lvl8pPr defTabSz="457200" eaLnBrk="1" hangingPunct="1" latinLnBrk="0" lvl="7" marL="3200400" rtl="0" algn="l">
      <a:defRPr kern="1200" sz="1800">
        <a:solidFill>
          <a:schemeClr val="tx1"/>
        </a:solidFill>
        <a:latin typeface="+mn-lt"/>
        <a:ea typeface="+mn-ea"/>
        <a:cs typeface="+mn-cs"/>
      </a:defRPr>
    </a:lvl8pPr>
    <a:lvl9pPr defTabSz="4572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9BE35F-53EA-41C2-AE0E-912FD407B4BB}" type="datetimeFigureOut">
              <a:rPr lang="en-IN" smtClean="0"/>
              <a:pPr/>
              <a:t>20-01-2026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D02457-DCFD-4143-9E73-94629FE55431}"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0D02457-DCFD-4143-9E73-94629FE55431}" type="slidenum">
              <a:rPr lang="en-IN" smtClean="0"/>
              <a:pPr/>
              <a:t>3</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8576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DDF080-5E8C-48AD-84E5-6C08B304C14E}" type="datetimeFigureOut">
              <a:rPr lang="en-US" smtClean="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118248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D57F1E4F-1CFF-5643-939E-217C01CDF565}"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3446682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Tree>
    <p:extLst>
      <p:ext uri="{BB962C8B-B14F-4D97-AF65-F5344CB8AC3E}">
        <p14:creationId xmlns:p14="http://schemas.microsoft.com/office/powerpoint/2010/main" val="1160593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Tree>
    <p:extLst>
      <p:ext uri="{BB962C8B-B14F-4D97-AF65-F5344CB8AC3E}">
        <p14:creationId xmlns:p14="http://schemas.microsoft.com/office/powerpoint/2010/main" val="1619850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4126523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2576557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DDF080-5E8C-48AD-84E5-6C08B304C14E}" type="datetimeFigureOut">
              <a:rPr lang="en-US" smtClean="0"/>
              <a:pPr/>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3531054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Tree>
    <p:extLst>
      <p:ext uri="{BB962C8B-B14F-4D97-AF65-F5344CB8AC3E}">
        <p14:creationId xmlns:p14="http://schemas.microsoft.com/office/powerpoint/2010/main" val="686201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Tree>
    <p:extLst>
      <p:ext uri="{BB962C8B-B14F-4D97-AF65-F5344CB8AC3E}">
        <p14:creationId xmlns:p14="http://schemas.microsoft.com/office/powerpoint/2010/main" val="571969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40861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Tree>
    <p:extLst>
      <p:ext uri="{BB962C8B-B14F-4D97-AF65-F5344CB8AC3E}">
        <p14:creationId xmlns:p14="http://schemas.microsoft.com/office/powerpoint/2010/main" val="6245028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899159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Tree>
    <p:extLst>
      <p:ext uri="{BB962C8B-B14F-4D97-AF65-F5344CB8AC3E}">
        <p14:creationId xmlns:p14="http://schemas.microsoft.com/office/powerpoint/2010/main" val="13645880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DDF080-5E8C-48AD-84E5-6C08B304C14E}" type="datetimeFigureOut">
              <a:rPr lang="en-US" smtClean="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Tree>
    <p:extLst>
      <p:ext uri="{BB962C8B-B14F-4D97-AF65-F5344CB8AC3E}">
        <p14:creationId xmlns:p14="http://schemas.microsoft.com/office/powerpoint/2010/main" val="1366178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Tree>
    <p:extLst>
      <p:ext uri="{BB962C8B-B14F-4D97-AF65-F5344CB8AC3E}">
        <p14:creationId xmlns:p14="http://schemas.microsoft.com/office/powerpoint/2010/main" val="2502317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1/20/2026</a:t>
            </a:fld>
            <a:endParaRPr lang="en-US" dirty="0"/>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Tree>
    <p:extLst>
      <p:ext uri="{BB962C8B-B14F-4D97-AF65-F5344CB8AC3E}">
        <p14:creationId xmlns:p14="http://schemas.microsoft.com/office/powerpoint/2010/main" val="731351470"/>
      </p:ext>
    </p:extLst>
  </p:cSld>
  <p:clrMap bg1="lt1" tx1="dk1" bg2="lt2" tx2="dk2" accent1="accent1" accent2="accent2" accent3="accent3" accent4="accent4" accent5="accent5" accent6="accent6" hlink="hlink" folHlink="folHlink"/>
  <p:sldLayoutIdLst>
    <p:sldLayoutId id="2147483975" r:id="rId1"/>
    <p:sldLayoutId id="2147483976" r:id="rId2"/>
    <p:sldLayoutId id="2147483977" r:id="rId3"/>
    <p:sldLayoutId id="2147483978" r:id="rId4"/>
    <p:sldLayoutId id="2147483979" r:id="rId5"/>
    <p:sldLayoutId id="2147483980" r:id="rId6"/>
    <p:sldLayoutId id="2147483981" r:id="rId7"/>
    <p:sldLayoutId id="2147483982" r:id="rId8"/>
    <p:sldLayoutId id="2147483983" r:id="rId9"/>
    <p:sldLayoutId id="2147483984" r:id="rId10"/>
    <p:sldLayoutId id="2147483985" r:id="rId11"/>
    <p:sldLayoutId id="2147483986" r:id="rId12"/>
    <p:sldLayoutId id="2147483987" r:id="rId13"/>
    <p:sldLayoutId id="2147483988" r:id="rId14"/>
    <p:sldLayoutId id="2147483989" r:id="rId15"/>
    <p:sldLayoutId id="214748399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247035"/>
            <a:ext cx="7754880" cy="1011485"/>
          </a:xfrm>
        </p:spPr>
        <p:txBody>
          <a:bodyPr>
            <a:normAutofit fontScale="90000"/>
          </a:bodyPr>
          <a:lstStyle/>
          <a:p>
            <a:pPr algn="ctr"/>
            <a:r>
              <a:rPr lang="en-IN" sz="2700" b="1" dirty="0">
                <a:solidFill>
                  <a:schemeClr val="accent1">
                    <a:lumMod val="75000"/>
                  </a:schemeClr>
                </a:solidFill>
                <a:latin typeface="Times New Roman" panose="02020603050405020304" pitchFamily="18" charset="0"/>
                <a:cs typeface="Times New Roman" panose="02020603050405020304" pitchFamily="18" charset="0"/>
              </a:rPr>
              <a:t>    </a:t>
            </a:r>
            <a:r>
              <a:rPr lang="en-IN" sz="2200" b="1" dirty="0">
                <a:solidFill>
                  <a:schemeClr val="accent4">
                    <a:lumMod val="75000"/>
                  </a:schemeClr>
                </a:solidFill>
                <a:latin typeface="Times New Roman" panose="02020603050405020304" pitchFamily="18" charset="0"/>
                <a:cs typeface="Times New Roman" panose="02020603050405020304" pitchFamily="18" charset="0"/>
              </a:rPr>
              <a:t>TEEGALA KRISHNA REDDY ENGINEERING COLLEGE</a:t>
            </a:r>
            <a:br>
              <a:rPr lang="en-IN" sz="1800" dirty="0">
                <a:solidFill>
                  <a:schemeClr val="accent4">
                    <a:lumMod val="75000"/>
                  </a:schemeClr>
                </a:solidFill>
                <a:latin typeface="Times New Roman" panose="02020603050405020304" pitchFamily="18" charset="0"/>
                <a:cs typeface="Times New Roman" panose="02020603050405020304" pitchFamily="18" charset="0"/>
              </a:rPr>
            </a:br>
            <a:r>
              <a:rPr lang="en-IN" sz="1600" cap="none" dirty="0">
                <a:solidFill>
                  <a:schemeClr val="accent4">
                    <a:lumMod val="75000"/>
                  </a:schemeClr>
                </a:solidFill>
                <a:latin typeface="Times New Roman" panose="02020603050405020304" pitchFamily="18" charset="0"/>
                <a:cs typeface="Times New Roman" panose="02020603050405020304" pitchFamily="18" charset="0"/>
              </a:rPr>
              <a:t>(Approved By </a:t>
            </a:r>
            <a:r>
              <a:rPr lang="en-IN" sz="1600" cap="none" dirty="0">
                <a:solidFill>
                  <a:schemeClr val="tx1">
                    <a:lumMod val="75000"/>
                    <a:lumOff val="25000"/>
                  </a:schemeClr>
                </a:solidFill>
                <a:latin typeface="Times New Roman" panose="02020603050405020304" pitchFamily="18" charset="0"/>
                <a:cs typeface="Times New Roman" panose="02020603050405020304" pitchFamily="18" charset="0"/>
              </a:rPr>
              <a:t>AICTE</a:t>
            </a:r>
            <a:r>
              <a:rPr lang="en-IN" sz="1600" cap="none" dirty="0">
                <a:solidFill>
                  <a:schemeClr val="accent4">
                    <a:lumMod val="75000"/>
                  </a:schemeClr>
                </a:solidFill>
                <a:latin typeface="Times New Roman" panose="02020603050405020304" pitchFamily="18" charset="0"/>
                <a:cs typeface="Times New Roman" panose="02020603050405020304" pitchFamily="18" charset="0"/>
              </a:rPr>
              <a:t> , Affiliated To JNTUH, Accredited By NBA And NAAC)</a:t>
            </a:r>
            <a:endParaRPr lang="en-IN" sz="1800"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027174" y="2852937"/>
            <a:ext cx="7370044" cy="1152126"/>
          </a:xfrm>
        </p:spPr>
        <p:txBody>
          <a:bodyPr>
            <a:normAutofit/>
          </a:bodyPr>
          <a:lstStyle/>
          <a:p>
            <a:pPr algn="ctr"/>
            <a:endParaRPr lang="en-IN" sz="2400" dirty="0">
              <a:solidFill>
                <a:schemeClr val="accent5">
                  <a:lumMod val="50000"/>
                </a:schemeClr>
              </a:solidFill>
              <a:latin typeface="Times New Roman" panose="02020603050405020304" pitchFamily="18" charset="0"/>
              <a:cs typeface="Times New Roman" panose="02020603050405020304" pitchFamily="18" charset="0"/>
            </a:endParaRPr>
          </a:p>
          <a:p>
            <a:pPr algn="ctr"/>
            <a:r>
              <a:rPr lang="en-IN" sz="2400" dirty="0">
                <a:solidFill>
                  <a:schemeClr val="accent5">
                    <a:lumMod val="50000"/>
                  </a:schemeClr>
                </a:solidFill>
                <a:latin typeface="Times New Roman" panose="02020603050405020304" pitchFamily="18" charset="0"/>
                <a:cs typeface="Times New Roman" panose="02020603050405020304" pitchFamily="18" charset="0"/>
              </a:rPr>
              <a:t>Department of Computer Science &amp; Engineering</a:t>
            </a:r>
          </a:p>
        </p:txBody>
      </p:sp>
      <p:pic>
        <p:nvPicPr>
          <p:cNvPr id="5" name="Picture 4"/>
          <p:cNvPicPr>
            <a:picLocks noChangeAspect="1"/>
          </p:cNvPicPr>
          <p:nvPr/>
        </p:nvPicPr>
        <p:blipFill>
          <a:blip r:embed="rId2" cstate="print"/>
          <a:stretch>
            <a:fillRect/>
          </a:stretch>
        </p:blipFill>
        <p:spPr>
          <a:xfrm>
            <a:off x="3720302" y="1575795"/>
            <a:ext cx="1584175" cy="1277142"/>
          </a:xfrm>
          <a:prstGeom prst="rect">
            <a:avLst/>
          </a:prstGeom>
        </p:spPr>
      </p:pic>
      <p:cxnSp>
        <p:nvCxnSpPr>
          <p:cNvPr id="7" name="Straight Connector 6"/>
          <p:cNvCxnSpPr/>
          <p:nvPr/>
        </p:nvCxnSpPr>
        <p:spPr>
          <a:xfrm>
            <a:off x="437322" y="4439478"/>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42316" y="4293096"/>
            <a:ext cx="8140148"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Subtitle 2"/>
          <p:cNvSpPr txBox="1"/>
          <p:nvPr/>
        </p:nvSpPr>
        <p:spPr>
          <a:xfrm>
            <a:off x="1403648" y="4292952"/>
            <a:ext cx="7950282" cy="1656184"/>
          </a:xfrm>
          <a:prstGeom prst="rect">
            <a:avLst/>
          </a:prstGeom>
        </p:spPr>
        <p:txBody>
          <a:bodyPr vert="horz" lIns="91440" tIns="45720" rIns="91440" bIns="45720" rtlCol="0" anchor="t">
            <a:no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l">
              <a:buClr>
                <a:srgbClr val="0065A4"/>
              </a:buClr>
            </a:pPr>
            <a:r>
              <a:rPr lang="en-IN" u="sng" dirty="0">
                <a:solidFill>
                  <a:schemeClr val="tx1"/>
                </a:solidFill>
                <a:latin typeface="Times New Roman" panose="02020603050405020304" pitchFamily="18" charset="0"/>
                <a:cs typeface="Times New Roman" panose="02020603050405020304" pitchFamily="18" charset="0"/>
              </a:rPr>
              <a:t>HEAD OF THE DEPARTMENT</a:t>
            </a:r>
            <a:r>
              <a:rPr lang="en-IN" dirty="0">
                <a:solidFill>
                  <a:schemeClr val="tx1"/>
                </a:solidFill>
                <a:latin typeface="Times New Roman" panose="02020603050405020304" pitchFamily="18" charset="0"/>
                <a:cs typeface="Times New Roman" panose="02020603050405020304" pitchFamily="18" charset="0"/>
              </a:rPr>
              <a:t>		  		</a:t>
            </a:r>
            <a:r>
              <a:rPr lang="en-IN" u="sng" dirty="0">
                <a:solidFill>
                  <a:schemeClr val="tx1"/>
                </a:solidFill>
                <a:latin typeface="Times New Roman" panose="02020603050405020304" pitchFamily="18" charset="0"/>
                <a:cs typeface="Times New Roman" panose="02020603050405020304" pitchFamily="18" charset="0"/>
              </a:rPr>
              <a:t> PROJECT CO-ORDINATOR </a:t>
            </a:r>
            <a:endParaRPr lang="en-IN" dirty="0">
              <a:solidFill>
                <a:schemeClr val="tx1"/>
              </a:solidFill>
              <a:latin typeface="Times New Roman" panose="02020603050405020304" pitchFamily="18" charset="0"/>
              <a:cs typeface="Times New Roman" panose="02020603050405020304" pitchFamily="18" charset="0"/>
            </a:endParaRPr>
          </a:p>
          <a:p>
            <a:pPr algn="l">
              <a:buClr>
                <a:srgbClr val="0065A4"/>
              </a:buClr>
            </a:pPr>
            <a:r>
              <a:rPr lang="en-IN" dirty="0">
                <a:solidFill>
                  <a:schemeClr val="tx1"/>
                </a:solidFill>
                <a:latin typeface="Times New Roman" panose="02020603050405020304" pitchFamily="18" charset="0"/>
                <a:cs typeface="Times New Roman" panose="02020603050405020304" pitchFamily="18" charset="0"/>
              </a:rPr>
              <a:t>Dr. CH. V. PHANI KRISHNA                               		  Mrs. P.SWETHA </a:t>
            </a:r>
          </a:p>
          <a:p>
            <a:pPr algn="l">
              <a:buClr>
                <a:srgbClr val="0065A4"/>
              </a:buClr>
            </a:pPr>
            <a:r>
              <a:rPr lang="en-IN" dirty="0">
                <a:solidFill>
                  <a:schemeClr val="tx1"/>
                </a:solidFill>
                <a:latin typeface="Times New Roman" panose="02020603050405020304" pitchFamily="18" charset="0"/>
                <a:cs typeface="Times New Roman" panose="02020603050405020304" pitchFamily="18" charset="0"/>
              </a:rPr>
              <a:t>		Professor							         Assistant Professor</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2" name="Shape 2052"/>
        <p:cNvGrpSpPr/>
        <p:nvPr/>
      </p:nvGrpSpPr>
      <p:grpSpPr>
        <a:xfrm>
          <a:off x="0" y="0"/>
          <a:ext cx="0" cy="0"/>
          <a:chOff x="0" y="0"/>
          <a:chExt cx="0" cy="0"/>
        </a:xfrm>
      </p:grpSpPr>
      <p:cxnSp>
        <p:nvCxnSpPr>
          <p:cNvPr id="2053" name="Google Shape;2053;p1"/>
          <p:cNvCxnSpPr/>
          <p:nvPr/>
        </p:nvCxnSpPr>
        <p:spPr>
          <a:xfrm>
            <a:off x="323528" y="3717032"/>
            <a:ext cx="7741200" cy="30600"/>
          </a:xfrm>
          <a:prstGeom prst="straightConnector1">
            <a:avLst/>
          </a:prstGeom>
          <a:noFill/>
          <a:ln cap="rnd" cmpd="sng" w="9525">
            <a:solidFill>
              <a:srgbClr val="9D2D0F"/>
            </a:solidFill>
            <a:prstDash val="solid"/>
            <a:round/>
            <a:headEnd len="sm" w="sm" type="none"/>
            <a:tailEnd len="sm" w="sm" type="none"/>
          </a:ln>
        </p:spPr>
      </p:cxnSp>
      <p:sp>
        <p:nvSpPr>
          <p:cNvPr id="2054" name="Google Shape;2054;p1"/>
          <p:cNvSpPr txBox="1"/>
          <p:nvPr/>
        </p:nvSpPr>
        <p:spPr>
          <a:xfrm>
            <a:off x="899592" y="3963242"/>
            <a:ext cx="2509200" cy="1505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0065A4"/>
              </a:buClr>
              <a:buSzPts val="1440"/>
              <a:buFont typeface="Noto Sans Symbols"/>
              <a:buNone/>
            </a:pPr>
            <a:r>
              <a:rPr b="0" i="0" lang="en-IN" sz="1800" u="sng" cap="none" strike="noStrike">
                <a:solidFill>
                  <a:schemeClr val="dk1"/>
                </a:solidFill>
                <a:latin typeface="Times New Roman"/>
                <a:ea typeface="Times New Roman"/>
                <a:cs typeface="Times New Roman"/>
                <a:sym typeface="Times New Roman"/>
              </a:rPr>
              <a:t>SUPERVISOR</a:t>
            </a:r>
            <a:endParaRPr/>
          </a:p>
          <a:p>
            <a:pPr indent="0" lvl="0" marL="0" marR="0" rtl="0" algn="l">
              <a:spcBef>
                <a:spcPts val="1000"/>
              </a:spcBef>
              <a:spcAft>
                <a:spcPts val="0"/>
              </a:spcAft>
              <a:buClr>
                <a:srgbClr val="0065A4"/>
              </a:buClr>
              <a:buSzPts val="1440"/>
              <a:buFont typeface="Noto Sans Symbols"/>
              <a:buNone/>
            </a:pPr>
            <a:r>
              <a:rPr b="0" i="0" lang="en-IN" sz="1800" u="none" cap="none" strike="noStrike">
                <a:solidFill>
                  <a:schemeClr val="dk1"/>
                </a:solidFill>
                <a:latin typeface="Times New Roman"/>
                <a:ea typeface="Times New Roman"/>
                <a:cs typeface="Times New Roman"/>
                <a:sym typeface="Times New Roman"/>
              </a:rPr>
              <a:t>	P. Swetha </a:t>
            </a:r>
            <a:endParaRPr/>
          </a:p>
          <a:p>
            <a:pPr indent="0" lvl="0" marL="0" marR="0" rtl="0" algn="l">
              <a:spcBef>
                <a:spcPts val="1000"/>
              </a:spcBef>
              <a:spcAft>
                <a:spcPts val="0"/>
              </a:spcAft>
              <a:buClr>
                <a:srgbClr val="0065A4"/>
              </a:buClr>
              <a:buSzPts val="1440"/>
              <a:buFont typeface="Noto Sans Symbols"/>
              <a:buNone/>
            </a:pPr>
            <a:r>
              <a:rPr b="0" i="0" lang="en-IN" sz="1800" u="none" cap="none" strike="noStrike">
                <a:solidFill>
                  <a:schemeClr val="dk1"/>
                </a:solidFill>
                <a:latin typeface="Times New Roman"/>
                <a:ea typeface="Times New Roman"/>
                <a:cs typeface="Times New Roman"/>
                <a:sym typeface="Times New Roman"/>
              </a:rPr>
              <a:t>  (assistant professor)</a:t>
            </a:r>
            <a:endParaRPr b="0" i="0" sz="1800" u="none" cap="none" strike="noStrike">
              <a:solidFill>
                <a:srgbClr val="3F3F3F"/>
              </a:solidFill>
              <a:latin typeface="Times New Roman"/>
              <a:ea typeface="Times New Roman"/>
              <a:cs typeface="Times New Roman"/>
              <a:sym typeface="Times New Roman"/>
            </a:endParaRPr>
          </a:p>
          <a:p>
            <a:pPr indent="0" lvl="0" marL="0" marR="0" rtl="0" algn="l">
              <a:spcBef>
                <a:spcPts val="1000"/>
              </a:spcBef>
              <a:spcAft>
                <a:spcPts val="0"/>
              </a:spcAft>
              <a:buClr>
                <a:srgbClr val="0065A4"/>
              </a:buClr>
              <a:buSzPts val="1440"/>
              <a:buFont typeface="Noto Sans Symbols"/>
              <a:buNone/>
            </a:pPr>
            <a:r>
              <a:rPr b="0" i="0" lang="en-IN" sz="1800" u="none" cap="none" strike="noStrike">
                <a:solidFill>
                  <a:srgbClr val="3F3F3F"/>
                </a:solidFill>
                <a:latin typeface="Times New Roman"/>
                <a:ea typeface="Times New Roman"/>
                <a:cs typeface="Times New Roman"/>
                <a:sym typeface="Times New Roman"/>
              </a:rPr>
              <a:t>	</a:t>
            </a:r>
            <a:endParaRPr/>
          </a:p>
        </p:txBody>
      </p:sp>
      <p:sp>
        <p:nvSpPr>
          <p:cNvPr id="2055" name="Google Shape;2055;p1"/>
          <p:cNvSpPr txBox="1"/>
          <p:nvPr/>
        </p:nvSpPr>
        <p:spPr>
          <a:xfrm>
            <a:off x="4572000" y="3963242"/>
            <a:ext cx="3672300" cy="1768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65A4"/>
              </a:buClr>
              <a:buSzPts val="1440"/>
              <a:buFont typeface="Noto Sans Symbols"/>
              <a:buNone/>
            </a:pPr>
            <a:r>
              <a:rPr b="0" i="0" lang="en-IN" sz="1800" u="sng" cap="none" strike="noStrike">
                <a:solidFill>
                  <a:schemeClr val="dk1"/>
                </a:solidFill>
                <a:latin typeface="Times New Roman"/>
                <a:ea typeface="Times New Roman"/>
                <a:cs typeface="Times New Roman"/>
                <a:sym typeface="Times New Roman"/>
              </a:rPr>
              <a:t>NAME OF THE STUDENTS</a:t>
            </a:r>
            <a:endParaRPr/>
          </a:p>
          <a:p>
            <a:pPr indent="0" lvl="0" marL="0" marR="0" rtl="0" algn="l">
              <a:spcBef>
                <a:spcPts val="1000"/>
              </a:spcBef>
              <a:spcAft>
                <a:spcPts val="0"/>
              </a:spcAft>
              <a:buClr>
                <a:srgbClr val="0065A4"/>
              </a:buClr>
              <a:buSzPts val="1440"/>
              <a:buFont typeface="Noto Sans Symbols"/>
              <a:buNone/>
            </a:pPr>
            <a:r>
              <a:t/>
            </a:r>
            <a:endParaRPr b="0" i="0" sz="1800" u="none" cap="none" strike="noStrike">
              <a:solidFill>
                <a:srgbClr val="3F3F3F"/>
              </a:solidFill>
              <a:latin typeface="Times New Roman"/>
              <a:ea typeface="Times New Roman"/>
              <a:cs typeface="Times New Roman"/>
              <a:sym typeface="Times New Roman"/>
            </a:endParaRPr>
          </a:p>
        </p:txBody>
      </p:sp>
      <p:sp>
        <p:nvSpPr>
          <p:cNvPr id="2056" name="Google Shape;2056;p1"/>
          <p:cNvSpPr txBox="1"/>
          <p:nvPr/>
        </p:nvSpPr>
        <p:spPr>
          <a:xfrm>
            <a:off x="1187624" y="1808795"/>
            <a:ext cx="7488900" cy="1200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IN" sz="3600" u="none" cap="none" strike="noStrike">
                <a:solidFill>
                  <a:schemeClr val="dk1"/>
                </a:solidFill>
                <a:latin typeface="Times New Roman"/>
                <a:ea typeface="Times New Roman"/>
                <a:cs typeface="Times New Roman"/>
                <a:sym typeface="Times New Roman"/>
              </a:rPr>
              <a:t>Smart TPO Placement Management and Notification System</a:t>
            </a:r>
            <a:endParaRPr b="0" i="0" sz="3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7" name="Shape 2057"/>
        <p:cNvGrpSpPr/>
        <p:nvPr/>
      </p:nvGrpSpPr>
      <p:grpSpPr>
        <a:xfrm>
          <a:off x="0" y="0"/>
          <a:ext cx="0" cy="0"/>
          <a:chOff x="0" y="0"/>
          <a:chExt cx="0" cy="0"/>
        </a:xfrm>
      </p:grpSpPr>
      <p:sp>
        <p:nvSpPr>
          <p:cNvPr id="2058" name="Google Shape;2058;p2"/>
          <p:cNvSpPr txBox="1"/>
          <p:nvPr>
            <p:ph type="title"/>
          </p:nvPr>
        </p:nvSpPr>
        <p:spPr>
          <a:xfrm>
            <a:off x="-612576" y="620688"/>
            <a:ext cx="7520400" cy="6171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262626"/>
              </a:buClr>
              <a:buSzPts val="3600"/>
              <a:buFont typeface="Times New Roman"/>
              <a:buNone/>
            </a:pPr>
            <a:r>
              <a:rPr lang="en-IN" sz="3600">
                <a:latin typeface="Times New Roman"/>
                <a:ea typeface="Times New Roman"/>
                <a:cs typeface="Times New Roman"/>
                <a:sym typeface="Times New Roman"/>
              </a:rPr>
              <a:t>CONTENTS</a:t>
            </a:r>
            <a:endParaRPr sz="3600">
              <a:latin typeface="Times New Roman"/>
              <a:ea typeface="Times New Roman"/>
              <a:cs typeface="Times New Roman"/>
              <a:sym typeface="Times New Roman"/>
            </a:endParaRPr>
          </a:p>
        </p:txBody>
      </p:sp>
      <p:sp>
        <p:nvSpPr>
          <p:cNvPr id="2059" name="Google Shape;2059;p2"/>
          <p:cNvSpPr txBox="1"/>
          <p:nvPr>
            <p:ph idx="2" type="body"/>
          </p:nvPr>
        </p:nvSpPr>
        <p:spPr>
          <a:xfrm>
            <a:off x="1855219" y="1124739"/>
            <a:ext cx="7488900" cy="46086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2400"/>
              <a:buFont typeface="Noto Sans Symbols"/>
              <a:buChar char="⮚"/>
            </a:pPr>
            <a:r>
              <a:rPr lang="en-IN" sz="2400">
                <a:solidFill>
                  <a:schemeClr val="dk1"/>
                </a:solidFill>
                <a:latin typeface="Times New Roman"/>
                <a:ea typeface="Times New Roman"/>
                <a:cs typeface="Times New Roman"/>
                <a:sym typeface="Times New Roman"/>
              </a:rPr>
              <a:t>ABSTRACT</a:t>
            </a:r>
            <a:endParaRPr/>
          </a:p>
          <a:p>
            <a:pPr indent="-285750" lvl="0" marL="285750" rtl="0" algn="l">
              <a:spcBef>
                <a:spcPts val="1000"/>
              </a:spcBef>
              <a:spcAft>
                <a:spcPts val="0"/>
              </a:spcAft>
              <a:buSzPts val="2400"/>
              <a:buFont typeface="Noto Sans Symbols"/>
              <a:buChar char="⮚"/>
            </a:pPr>
            <a:r>
              <a:rPr lang="en-IN" sz="2400">
                <a:solidFill>
                  <a:schemeClr val="dk1"/>
                </a:solidFill>
                <a:latin typeface="Times New Roman"/>
                <a:ea typeface="Times New Roman"/>
                <a:cs typeface="Times New Roman"/>
                <a:sym typeface="Times New Roman"/>
              </a:rPr>
              <a:t>INTRODUCTION</a:t>
            </a:r>
            <a:endParaRPr/>
          </a:p>
          <a:p>
            <a:pPr indent="-285750" lvl="0" marL="285750" rtl="0" algn="l">
              <a:spcBef>
                <a:spcPts val="1000"/>
              </a:spcBef>
              <a:spcAft>
                <a:spcPts val="0"/>
              </a:spcAft>
              <a:buSzPts val="2400"/>
              <a:buFont typeface="Noto Sans Symbols"/>
              <a:buChar char="⮚"/>
            </a:pPr>
            <a:r>
              <a:rPr lang="en-IN" sz="2400">
                <a:solidFill>
                  <a:schemeClr val="dk1"/>
                </a:solidFill>
                <a:latin typeface="Times New Roman"/>
                <a:ea typeface="Times New Roman"/>
                <a:cs typeface="Times New Roman"/>
                <a:sym typeface="Times New Roman"/>
              </a:rPr>
              <a:t>EXISTING SYSTEM </a:t>
            </a:r>
            <a:endParaRPr/>
          </a:p>
          <a:p>
            <a:pPr indent="-285750" lvl="0" marL="285750" rtl="0" algn="l">
              <a:spcBef>
                <a:spcPts val="1000"/>
              </a:spcBef>
              <a:spcAft>
                <a:spcPts val="0"/>
              </a:spcAft>
              <a:buSzPts val="2400"/>
              <a:buFont typeface="Noto Sans Symbols"/>
              <a:buChar char="⮚"/>
            </a:pPr>
            <a:r>
              <a:rPr lang="en-IN" sz="2400">
                <a:solidFill>
                  <a:schemeClr val="dk1"/>
                </a:solidFill>
                <a:latin typeface="Times New Roman"/>
                <a:ea typeface="Times New Roman"/>
                <a:cs typeface="Times New Roman"/>
                <a:sym typeface="Times New Roman"/>
              </a:rPr>
              <a:t>PROPOSED SYSTEM</a:t>
            </a:r>
            <a:endParaRPr/>
          </a:p>
          <a:p>
            <a:pPr indent="-285750" lvl="0" marL="285750" rtl="0" algn="l">
              <a:spcBef>
                <a:spcPts val="1000"/>
              </a:spcBef>
              <a:spcAft>
                <a:spcPts val="0"/>
              </a:spcAft>
              <a:buSzPts val="2400"/>
              <a:buFont typeface="Noto Sans Symbols"/>
              <a:buChar char="⮚"/>
            </a:pPr>
            <a:r>
              <a:rPr lang="en-IN" sz="2400">
                <a:solidFill>
                  <a:schemeClr val="dk1"/>
                </a:solidFill>
                <a:latin typeface="Times New Roman"/>
                <a:ea typeface="Times New Roman"/>
                <a:cs typeface="Times New Roman"/>
                <a:sym typeface="Times New Roman"/>
              </a:rPr>
              <a:t>REFERENCES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48680"/>
            <a:ext cx="6347714" cy="1523256"/>
          </a:xfrm>
        </p:spPr>
        <p:txBody>
          <a:bodyPr>
            <a:normAutofit/>
          </a:bodyPr>
          <a:lstStyle/>
          <a:p>
            <a:r>
              <a:rPr lang="en-US" sz="3200" dirty="0">
                <a:latin typeface="Times New Roman" panose="02020603050405020304" pitchFamily="18" charset="0"/>
                <a:cs typeface="Times New Roman" panose="02020603050405020304" pitchFamily="18" charset="0"/>
              </a:rPr>
              <a:t>ABSTRACT</a:t>
            </a:r>
            <a:endParaRPr lang="en-IN"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1547663" y="1916832"/>
            <a:ext cx="7200801" cy="4464496"/>
          </a:xfrm>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Campus placement processes often require manual screening of student profiles based on academic performance and skill criteria, leading to delays, errors, and missed opportunities. This project proposes an automated Placement Eligibility and Notification System that intelligently matches job requirements with student academic records, skills, CGPA, and backlog status stored by the Training and Placement Office (TPO). When a company posts a job, the system automatically shortlists eligible students and sends notification emails. This solution enhances efficiency, accuracy, and transparency while reducing manual effort, ensuring timely and fair opportunities for all students.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E4544-9CA7-7526-9AEB-0885DEF096AC}"/>
              </a:ext>
            </a:extLst>
          </p:cNvPr>
          <p:cNvSpPr>
            <a:spLocks noGrp="1"/>
          </p:cNvSpPr>
          <p:nvPr>
            <p:ph type="title"/>
          </p:nvPr>
        </p:nvSpPr>
        <p:spPr>
          <a:xfrm>
            <a:off x="395536" y="620688"/>
            <a:ext cx="6347714" cy="803176"/>
          </a:xfrm>
        </p:spPr>
        <p:txBody>
          <a:bodyPr>
            <a:normAutofit fontScale="90000"/>
          </a:bodyPr>
          <a:lstStyle/>
          <a:p>
            <a:pPr algn="ctr"/>
            <a:r>
              <a:rPr lang="en-US" dirty="0"/>
              <a:t>INTRODUCTION</a:t>
            </a:r>
          </a:p>
        </p:txBody>
      </p:sp>
      <p:sp>
        <p:nvSpPr>
          <p:cNvPr id="3" name="Text Placeholder 2">
            <a:extLst>
              <a:ext uri="{FF2B5EF4-FFF2-40B4-BE49-F238E27FC236}">
                <a16:creationId xmlns:a16="http://schemas.microsoft.com/office/drawing/2014/main" id="{B902976B-2C29-F50E-7CDE-1373E181E216}"/>
              </a:ext>
            </a:extLst>
          </p:cNvPr>
          <p:cNvSpPr>
            <a:spLocks noGrp="1"/>
          </p:cNvSpPr>
          <p:nvPr>
            <p:ph type="body" idx="1"/>
          </p:nvPr>
        </p:nvSpPr>
        <p:spPr>
          <a:xfrm>
            <a:off x="1549624" y="1196752"/>
            <a:ext cx="6984776" cy="4896544"/>
          </a:xfrm>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Campus recruitment is a crucial process that connects students with employment opportunities. Traditionally, Training and Placement Officers (TPOs) manually review and filter student records to identify eligible candidates for each job posting, which consumes significant time and may lead to human errors. To streamline this process, an automated Placement Eligibility and Notification System is developed. The system maintains detailed student profiles and job requirements, automatically matches eligibility criteria, and instantly alerts qualified candidates. This automation improves transparency, reduces administrative workload, and ensures efficient and accurate student shortlisting.</a:t>
            </a:r>
          </a:p>
        </p:txBody>
      </p:sp>
    </p:spTree>
    <p:extLst>
      <p:ext uri="{BB962C8B-B14F-4D97-AF65-F5344CB8AC3E}">
        <p14:creationId xmlns:p14="http://schemas.microsoft.com/office/powerpoint/2010/main" val="1952663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1640" y="44624"/>
            <a:ext cx="6347714" cy="1091208"/>
          </a:xfrm>
        </p:spPr>
        <p:txBody>
          <a:bodyPr>
            <a:normAutofit/>
          </a:bodyPr>
          <a:lstStyle/>
          <a:p>
            <a:r>
              <a:rPr lang="en-US" sz="3200" dirty="0">
                <a:latin typeface="Times New Roman" panose="02020603050405020304" pitchFamily="18" charset="0"/>
                <a:cs typeface="Times New Roman" panose="02020603050405020304" pitchFamily="18" charset="0"/>
              </a:rPr>
              <a:t>EXISTING SYSTEM:</a:t>
            </a:r>
            <a:endParaRPr lang="en-IN"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1464646" y="1052735"/>
            <a:ext cx="6624736" cy="2520278"/>
          </a:xfrm>
        </p:spPr>
        <p:txBody>
          <a:bodyPr>
            <a:normAutofit fontScale="92500" lnSpcReduction="10000"/>
          </a:bodyPr>
          <a:lstStyle/>
          <a:p>
            <a:pPr algn="just">
              <a:lnSpc>
                <a:spcPct val="150000"/>
              </a:lnSpc>
            </a:pPr>
            <a:r>
              <a:rPr lang="en-US" dirty="0">
                <a:latin typeface="Times New Roman" panose="02020603050405020304" pitchFamily="18" charset="0"/>
                <a:cs typeface="Times New Roman" panose="02020603050405020304" pitchFamily="18" charset="0"/>
              </a:rPr>
              <a:t>In the existing campus placement process, TPOs manually review student data, compare eligibility criteria, and communicate job opportunities individually. This method is time-consuming, prone to errors, lacks automation, and may delay notifications, reducing overall placement efficiency and fairness.</a:t>
            </a:r>
            <a:endPar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Drawback or Limitations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EF5B25E-BD19-792C-172C-BD158379C253}"/>
              </a:ext>
            </a:extLst>
          </p:cNvPr>
          <p:cNvSpPr>
            <a:spLocks noChangeArrowheads="1"/>
          </p:cNvSpPr>
          <p:nvPr/>
        </p:nvSpPr>
        <p:spPr bwMode="auto">
          <a:xfrm>
            <a:off x="1464646" y="3284984"/>
            <a:ext cx="5025735" cy="2951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lumMod val="65000"/>
                    <a:lumOff val="35000"/>
                  </a:schemeClr>
                </a:solidFill>
                <a:effectLst/>
                <a:latin typeface="Times New Roman" panose="02020603050405020304" pitchFamily="18" charset="0"/>
                <a:cs typeface="Times New Roman" panose="02020603050405020304" pitchFamily="18" charset="0"/>
              </a:rPr>
              <a:t>Time-consuming manual student filtering</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lumMod val="65000"/>
                    <a:lumOff val="35000"/>
                  </a:schemeClr>
                </a:solidFill>
                <a:effectLst/>
                <a:latin typeface="Times New Roman" panose="02020603050405020304" pitchFamily="18" charset="0"/>
                <a:cs typeface="Times New Roman" panose="02020603050405020304" pitchFamily="18" charset="0"/>
              </a:rPr>
              <a:t>High chance of human errors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lumMod val="65000"/>
                    <a:lumOff val="35000"/>
                  </a:schemeClr>
                </a:solidFill>
                <a:effectLst/>
                <a:latin typeface="Times New Roman" panose="02020603050405020304" pitchFamily="18" charset="0"/>
                <a:cs typeface="Times New Roman" panose="02020603050405020304" pitchFamily="18" charset="0"/>
              </a:rPr>
              <a:t>Delayed communication to eligible students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lumMod val="65000"/>
                    <a:lumOff val="35000"/>
                  </a:schemeClr>
                </a:solidFill>
                <a:effectLst/>
                <a:latin typeface="Times New Roman" panose="02020603050405020304" pitchFamily="18" charset="0"/>
                <a:cs typeface="Times New Roman" panose="02020603050405020304" pitchFamily="18" charset="0"/>
              </a:rPr>
              <a:t>Difficult to manage large student data</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lumMod val="65000"/>
                    <a:lumOff val="35000"/>
                  </a:schemeClr>
                </a:solidFill>
                <a:effectLst/>
                <a:latin typeface="Times New Roman" panose="02020603050405020304" pitchFamily="18" charset="0"/>
                <a:cs typeface="Times New Roman" panose="02020603050405020304" pitchFamily="18" charset="0"/>
              </a:rPr>
              <a:t>No automated skill-based matching</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lumMod val="65000"/>
                    <a:lumOff val="35000"/>
                  </a:schemeClr>
                </a:solidFill>
                <a:effectLst/>
                <a:latin typeface="Times New Roman" panose="02020603050405020304" pitchFamily="18" charset="0"/>
                <a:cs typeface="Times New Roman" panose="02020603050405020304" pitchFamily="18" charset="0"/>
              </a:rPr>
              <a:t>Lack of transparency and accuracy in shortlisting</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lumMod val="65000"/>
                    <a:lumOff val="35000"/>
                  </a:schemeClr>
                </a:solidFill>
                <a:effectLst/>
                <a:latin typeface="Times New Roman" panose="02020603050405020304" pitchFamily="18" charset="0"/>
                <a:cs typeface="Times New Roman" panose="02020603050405020304" pitchFamily="18" charset="0"/>
              </a:rPr>
              <a:t>Limited reporting and tracking features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1131" y="116632"/>
            <a:ext cx="6347714" cy="1296144"/>
          </a:xfrm>
        </p:spPr>
        <p:txBody>
          <a:bodyPr>
            <a:normAutofit/>
          </a:bodyPr>
          <a:lstStyle/>
          <a:p>
            <a:r>
              <a:rPr lang="en-US" sz="3200" dirty="0">
                <a:latin typeface="Times New Roman" panose="02020603050405020304" pitchFamily="18" charset="0"/>
                <a:cs typeface="Times New Roman" panose="02020603050405020304" pitchFamily="18" charset="0"/>
              </a:rPr>
              <a:t>PROPOSED SYSTEM:</a:t>
            </a:r>
            <a:endParaRPr lang="en-IN"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1187624" y="1628800"/>
            <a:ext cx="6482680" cy="1512168"/>
          </a:xfrm>
        </p:spPr>
        <p:txBody>
          <a:bodyPr>
            <a:noAutofit/>
          </a:bodyPr>
          <a:lstStyle/>
          <a:p>
            <a:pPr marL="285750" indent="-285750" algn="just">
              <a:lnSpc>
                <a:spcPct val="150000"/>
              </a:lnSpc>
              <a:spcAft>
                <a:spcPts val="800"/>
              </a:spcAft>
              <a:tabLst>
                <a:tab pos="4572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proposed system automates student eligibility matching based on academic data, skills, and job criteria. It automatically identifies eligible candidates, sends email notifications, and provides a dashboard for TPOs, ensuring faster processing, accuracy, transparency, and efficient placement management.</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360D414-8660-19A3-D632-41C538C7A6DF}"/>
              </a:ext>
            </a:extLst>
          </p:cNvPr>
          <p:cNvSpPr txBox="1"/>
          <p:nvPr/>
        </p:nvSpPr>
        <p:spPr>
          <a:xfrm>
            <a:off x="1492224" y="3212976"/>
            <a:ext cx="4572000" cy="3469155"/>
          </a:xfrm>
          <a:prstGeom prst="rect">
            <a:avLst/>
          </a:prstGeom>
          <a:noFill/>
        </p:spPr>
        <p:txBody>
          <a:bodyPr wrap="square">
            <a:spAutoFit/>
          </a:bodyPr>
          <a:lstStyle/>
          <a:p>
            <a:pPr marL="285750" lvl="0" indent="-285750" algn="just">
              <a:lnSpc>
                <a:spcPct val="150000"/>
              </a:lnSpc>
              <a:spcAft>
                <a:spcPts val="800"/>
              </a:spcAft>
              <a:tabLst>
                <a:tab pos="457200" algn="l"/>
              </a:tabLst>
            </a:pPr>
            <a:r>
              <a:rPr lang="en-IN" dirty="0">
                <a:solidFill>
                  <a:schemeClr val="tx1">
                    <a:lumMod val="65000"/>
                    <a:lumOff val="35000"/>
                  </a:schemeClr>
                </a:solidFill>
                <a:latin typeface="Times New Roman" panose="02020603050405020304" pitchFamily="18" charset="0"/>
                <a:ea typeface="Times New Roman" panose="02020603050405020304" pitchFamily="18" charset="0"/>
                <a:cs typeface="Times New Roman" panose="02020603050405020304" pitchFamily="18" charset="0"/>
              </a:rPr>
              <a:t> ADVANTAGES</a:t>
            </a:r>
            <a:endParaRPr lang="en-IN" dirty="0">
              <a:solidFill>
                <a:schemeClr val="tx1">
                  <a:lumMod val="65000"/>
                  <a:lumOff val="3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Automated student eligibility filtering</a:t>
            </a:r>
          </a:p>
          <a:p>
            <a:pPr marL="285750" indent="-285750">
              <a:lnSpc>
                <a:spcPct val="150000"/>
              </a:lnSpc>
              <a:buFont typeface="Wingdings" panose="05000000000000000000" pitchFamily="2" charset="2"/>
              <a:buChar char="Ø"/>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Fast and accurate shortlisting</a:t>
            </a:r>
          </a:p>
          <a:p>
            <a:pPr marL="285750" indent="-285750">
              <a:lnSpc>
                <a:spcPct val="150000"/>
              </a:lnSpc>
              <a:buFont typeface="Wingdings" panose="05000000000000000000" pitchFamily="2" charset="2"/>
              <a:buChar char="Ø"/>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Reduces manual workload for TPOs</a:t>
            </a:r>
          </a:p>
          <a:p>
            <a:pPr marL="285750" indent="-285750">
              <a:lnSpc>
                <a:spcPct val="150000"/>
              </a:lnSpc>
              <a:buFont typeface="Wingdings" panose="05000000000000000000" pitchFamily="2" charset="2"/>
              <a:buChar char="Ø"/>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Immediate email notifications to students</a:t>
            </a:r>
          </a:p>
          <a:p>
            <a:pPr marL="285750" indent="-285750">
              <a:lnSpc>
                <a:spcPct val="150000"/>
              </a:lnSpc>
              <a:buFont typeface="Wingdings" panose="05000000000000000000" pitchFamily="2" charset="2"/>
              <a:buChar char="Ø"/>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Improves transparency and fairness</a:t>
            </a:r>
          </a:p>
          <a:p>
            <a:pPr marL="285750" indent="-285750">
              <a:lnSpc>
                <a:spcPct val="150000"/>
              </a:lnSpc>
              <a:buFont typeface="Wingdings" panose="05000000000000000000" pitchFamily="2" charset="2"/>
              <a:buChar char="Ø"/>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Efficient handling of large student data</a:t>
            </a:r>
          </a:p>
          <a:p>
            <a:pPr marL="285750" indent="-285750">
              <a:lnSpc>
                <a:spcPct val="150000"/>
              </a:lnSpc>
              <a:buFont typeface="Wingdings" panose="05000000000000000000" pitchFamily="2" charset="2"/>
              <a:buChar char="Ø"/>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Better placement insights and management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88FB3-08AF-96F8-78FC-D7A651AD9D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D1FD04-BB53-84A8-9827-3F591EC57928}"/>
              </a:ext>
            </a:extLst>
          </p:cNvPr>
          <p:cNvSpPr>
            <a:spLocks noGrp="1"/>
          </p:cNvSpPr>
          <p:nvPr>
            <p:ph type="title"/>
          </p:nvPr>
        </p:nvSpPr>
        <p:spPr>
          <a:xfrm>
            <a:off x="1706988" y="107560"/>
            <a:ext cx="6347714" cy="1296144"/>
          </a:xfrm>
        </p:spPr>
        <p:txBody>
          <a:bodyPr>
            <a:normAutofit/>
          </a:bodyPr>
          <a:lstStyle/>
          <a:p>
            <a:r>
              <a:rPr lang="en-US" sz="3200" dirty="0">
                <a:latin typeface="Times New Roman" panose="02020603050405020304" pitchFamily="18" charset="0"/>
                <a:cs typeface="Times New Roman" panose="02020603050405020304" pitchFamily="18" charset="0"/>
              </a:rPr>
              <a:t>SYSTEM ARCHITECTURE</a:t>
            </a:r>
            <a:endParaRPr lang="en-IN" sz="3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3370595-FFA9-2D02-8D4A-132076736B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2428" y="1526149"/>
            <a:ext cx="6486071" cy="4098135"/>
          </a:xfrm>
          <a:prstGeom prst="rect">
            <a:avLst/>
          </a:prstGeom>
        </p:spPr>
      </p:pic>
    </p:spTree>
    <p:extLst>
      <p:ext uri="{BB962C8B-B14F-4D97-AF65-F5344CB8AC3E}">
        <p14:creationId xmlns:p14="http://schemas.microsoft.com/office/powerpoint/2010/main" val="357439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95C69-D4A2-865F-0327-26CFB44BD2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18173C-BB2E-6CF8-DA56-E36F49803E57}"/>
              </a:ext>
            </a:extLst>
          </p:cNvPr>
          <p:cNvSpPr>
            <a:spLocks noGrp="1"/>
          </p:cNvSpPr>
          <p:nvPr>
            <p:ph type="title"/>
          </p:nvPr>
        </p:nvSpPr>
        <p:spPr>
          <a:xfrm>
            <a:off x="1341026" y="116632"/>
            <a:ext cx="6347714" cy="1296144"/>
          </a:xfrm>
        </p:spPr>
        <p:txBody>
          <a:bodyPr>
            <a:normAutofit/>
          </a:bodyPr>
          <a:lstStyle/>
          <a:p>
            <a:r>
              <a:rPr lang="en-US" sz="3200" dirty="0">
                <a:latin typeface="Times New Roman" panose="02020603050405020304" pitchFamily="18" charset="0"/>
                <a:cs typeface="Times New Roman" panose="02020603050405020304" pitchFamily="18" charset="0"/>
              </a:rPr>
              <a:t>UML Diagrams</a:t>
            </a:r>
            <a:endParaRPr lang="en-IN" sz="3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A53134D-59BB-AC82-44D6-E70ACAAFAFD3}"/>
              </a:ext>
            </a:extLst>
          </p:cNvPr>
          <p:cNvSpPr txBox="1"/>
          <p:nvPr/>
        </p:nvSpPr>
        <p:spPr>
          <a:xfrm>
            <a:off x="1341026" y="1486524"/>
            <a:ext cx="7344816"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Use Case Diagram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Shows who uses the system (Student, TPO) and what they can do.</a:t>
            </a:r>
            <a:endParaRPr lang="en-IN"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7152C370-65F4-F77E-A55A-A1F4D77F101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87054" y="2564904"/>
            <a:ext cx="3769891" cy="3207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1838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F7F04-6487-0F84-0F08-DC66C2AC12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D8C7EA-27FF-489D-F698-9C26328BB54D}"/>
              </a:ext>
            </a:extLst>
          </p:cNvPr>
          <p:cNvSpPr>
            <a:spLocks noGrp="1"/>
          </p:cNvSpPr>
          <p:nvPr>
            <p:ph type="title"/>
          </p:nvPr>
        </p:nvSpPr>
        <p:spPr>
          <a:xfrm>
            <a:off x="1341026" y="116632"/>
            <a:ext cx="6347714" cy="1296144"/>
          </a:xfrm>
        </p:spPr>
        <p:txBody>
          <a:bodyPr>
            <a:normAutofit/>
          </a:bodyPr>
          <a:lstStyle/>
          <a:p>
            <a:r>
              <a:rPr lang="en-US" sz="3200" dirty="0">
                <a:latin typeface="Times New Roman" panose="02020603050405020304" pitchFamily="18" charset="0"/>
                <a:cs typeface="Times New Roman" panose="02020603050405020304" pitchFamily="18" charset="0"/>
              </a:rPr>
              <a:t>UML Diagrams</a:t>
            </a:r>
            <a:endParaRPr lang="en-IN" sz="3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96C503A-D1D4-4335-B3B0-07A544B80379}"/>
              </a:ext>
            </a:extLst>
          </p:cNvPr>
          <p:cNvSpPr txBox="1"/>
          <p:nvPr/>
        </p:nvSpPr>
        <p:spPr>
          <a:xfrm>
            <a:off x="1341026" y="1486524"/>
            <a:ext cx="7344816"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Class Diagram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Shows classes, attributes, and relationships (Student, Job, Eligibility).</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DF8D613-B1C9-32EB-539E-D46DD5916AA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2232213"/>
            <a:ext cx="2136775" cy="4431030"/>
          </a:xfrm>
          <a:prstGeom prst="rect">
            <a:avLst/>
          </a:prstGeom>
          <a:noFill/>
          <a:ln>
            <a:noFill/>
          </a:ln>
        </p:spPr>
      </p:pic>
    </p:spTree>
    <p:extLst>
      <p:ext uri="{BB962C8B-B14F-4D97-AF65-F5344CB8AC3E}">
        <p14:creationId xmlns:p14="http://schemas.microsoft.com/office/powerpoint/2010/main" val="3110995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7FFBC-5F8E-78FE-8020-4FE98485E4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AAA7CD-E698-1B37-DCF9-84AE9377BA9F}"/>
              </a:ext>
            </a:extLst>
          </p:cNvPr>
          <p:cNvSpPr>
            <a:spLocks noGrp="1"/>
          </p:cNvSpPr>
          <p:nvPr>
            <p:ph type="title"/>
          </p:nvPr>
        </p:nvSpPr>
        <p:spPr>
          <a:xfrm>
            <a:off x="1341026" y="116632"/>
            <a:ext cx="6347714" cy="1296144"/>
          </a:xfrm>
        </p:spPr>
        <p:txBody>
          <a:bodyPr>
            <a:normAutofit/>
          </a:bodyPr>
          <a:lstStyle/>
          <a:p>
            <a:r>
              <a:rPr lang="en-US" sz="3200" dirty="0">
                <a:latin typeface="Times New Roman" panose="02020603050405020304" pitchFamily="18" charset="0"/>
                <a:cs typeface="Times New Roman" panose="02020603050405020304" pitchFamily="18" charset="0"/>
              </a:rPr>
              <a:t>UML Diagrams</a:t>
            </a:r>
            <a:endParaRPr lang="en-IN" sz="3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4D1C0FE-C0E9-C592-2BD8-F68C77CA6AD5}"/>
              </a:ext>
            </a:extLst>
          </p:cNvPr>
          <p:cNvSpPr txBox="1"/>
          <p:nvPr/>
        </p:nvSpPr>
        <p:spPr>
          <a:xfrm>
            <a:off x="1341026" y="1486524"/>
            <a:ext cx="7344816"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Sequence Diagram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Shows step-by-step interaction (Job approval → eligibility check → email).</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06A5DCB-B6CC-986A-E1DC-3C698293359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3728" y="2708920"/>
            <a:ext cx="4528820" cy="3019425"/>
          </a:xfrm>
          <a:prstGeom prst="rect">
            <a:avLst/>
          </a:prstGeom>
          <a:noFill/>
          <a:ln>
            <a:noFill/>
          </a:ln>
        </p:spPr>
      </p:pic>
    </p:spTree>
    <p:extLst>
      <p:ext uri="{BB962C8B-B14F-4D97-AF65-F5344CB8AC3E}">
        <p14:creationId xmlns:p14="http://schemas.microsoft.com/office/powerpoint/2010/main" val="1367637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9E27F-C6A8-3790-2503-3EEA40C3E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2798D9-51BD-1717-DBB7-5CA91CE0A23A}"/>
              </a:ext>
            </a:extLst>
          </p:cNvPr>
          <p:cNvSpPr>
            <a:spLocks noGrp="1"/>
          </p:cNvSpPr>
          <p:nvPr>
            <p:ph type="title"/>
          </p:nvPr>
        </p:nvSpPr>
        <p:spPr>
          <a:xfrm>
            <a:off x="1341026" y="116632"/>
            <a:ext cx="6347714" cy="1296144"/>
          </a:xfrm>
        </p:spPr>
        <p:txBody>
          <a:bodyPr>
            <a:normAutofit/>
          </a:bodyPr>
          <a:lstStyle/>
          <a:p>
            <a:r>
              <a:rPr lang="en-US" sz="3200" dirty="0">
                <a:latin typeface="Times New Roman" panose="02020603050405020304" pitchFamily="18" charset="0"/>
                <a:cs typeface="Times New Roman" panose="02020603050405020304" pitchFamily="18" charset="0"/>
              </a:rPr>
              <a:t>UML Diagrams</a:t>
            </a:r>
            <a:endParaRPr lang="en-IN" sz="3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D08EE0E-7AFE-E2BF-B0DC-AB714ACCD8CC}"/>
              </a:ext>
            </a:extLst>
          </p:cNvPr>
          <p:cNvSpPr txBox="1"/>
          <p:nvPr/>
        </p:nvSpPr>
        <p:spPr>
          <a:xfrm>
            <a:off x="1341026" y="1486524"/>
            <a:ext cx="7344816"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Sequence Diagram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Shows step-by-step interaction (Job approval → eligibility check → email).</a:t>
            </a:r>
            <a:endParaRPr lang="en-IN" dirty="0">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0414A3AC-2E37-736F-C68B-0DFC20C01DD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99792" y="2636912"/>
            <a:ext cx="3500591" cy="3938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876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C94B7-8D6D-DEA0-6A41-0A2176ED6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E1FD9-DA78-ED9F-397B-7CE0B6F0DBBF}"/>
              </a:ext>
            </a:extLst>
          </p:cNvPr>
          <p:cNvSpPr>
            <a:spLocks noGrp="1"/>
          </p:cNvSpPr>
          <p:nvPr>
            <p:ph type="title"/>
          </p:nvPr>
        </p:nvSpPr>
        <p:spPr>
          <a:xfrm>
            <a:off x="1341026" y="116632"/>
            <a:ext cx="6347714" cy="1296144"/>
          </a:xfrm>
        </p:spPr>
        <p:txBody>
          <a:bodyPr>
            <a:normAutofit/>
          </a:bodyPr>
          <a:lstStyle/>
          <a:p>
            <a:r>
              <a:rPr lang="en-US" sz="3200" dirty="0">
                <a:latin typeface="Times New Roman" panose="02020603050405020304" pitchFamily="18" charset="0"/>
                <a:cs typeface="Times New Roman" panose="02020603050405020304" pitchFamily="18" charset="0"/>
              </a:rPr>
              <a:t>UML Diagrams</a:t>
            </a:r>
            <a:endParaRPr lang="en-IN" sz="3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59C44BD-55BF-0A81-5EDD-126E2DA38C1D}"/>
              </a:ext>
            </a:extLst>
          </p:cNvPr>
          <p:cNvSpPr txBox="1"/>
          <p:nvPr/>
        </p:nvSpPr>
        <p:spPr>
          <a:xfrm>
            <a:off x="1341026" y="1486524"/>
            <a:ext cx="7344816"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Activity Diagram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Shows workflow (Add student → approval → job posting → notification).</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9D4D2BC-AAD6-A61B-69BC-8C29EE60564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25457" y="2247900"/>
            <a:ext cx="3093085" cy="4610100"/>
          </a:xfrm>
          <a:prstGeom prst="rect">
            <a:avLst/>
          </a:prstGeom>
          <a:noFill/>
          <a:ln>
            <a:noFill/>
          </a:ln>
        </p:spPr>
      </p:pic>
    </p:spTree>
    <p:extLst>
      <p:ext uri="{BB962C8B-B14F-4D97-AF65-F5344CB8AC3E}">
        <p14:creationId xmlns:p14="http://schemas.microsoft.com/office/powerpoint/2010/main" val="3048971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3A002-7914-ACEB-F80E-B4FF46D88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DEBA50-857B-27AF-AB59-AC41A134AB49}"/>
              </a:ext>
            </a:extLst>
          </p:cNvPr>
          <p:cNvSpPr>
            <a:spLocks noGrp="1"/>
          </p:cNvSpPr>
          <p:nvPr>
            <p:ph type="title"/>
          </p:nvPr>
        </p:nvSpPr>
        <p:spPr>
          <a:xfrm>
            <a:off x="1471131" y="116632"/>
            <a:ext cx="6347714" cy="1296144"/>
          </a:xfrm>
        </p:spPr>
        <p:txBody>
          <a:bodyPr>
            <a:normAutofit/>
          </a:bodyPr>
          <a:lstStyle/>
          <a:p>
            <a:r>
              <a:rPr lang="en-US" sz="3200" dirty="0">
                <a:latin typeface="Times New Roman" panose="02020603050405020304" pitchFamily="18" charset="0"/>
                <a:cs typeface="Times New Roman" panose="02020603050405020304" pitchFamily="18" charset="0"/>
              </a:rPr>
              <a:t>System Specifications</a:t>
            </a:r>
            <a:endParaRPr lang="en-IN" sz="3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3E1C504-7445-DF20-6497-AD6DBCFA680E}"/>
              </a:ext>
            </a:extLst>
          </p:cNvPr>
          <p:cNvSpPr txBox="1"/>
          <p:nvPr/>
        </p:nvSpPr>
        <p:spPr>
          <a:xfrm>
            <a:off x="1619672" y="1297314"/>
            <a:ext cx="6912768" cy="1200329"/>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1. Hardware Requirements</a:t>
            </a:r>
          </a:p>
          <a:p>
            <a:r>
              <a:rPr lang="en-US" dirty="0">
                <a:latin typeface="Times New Roman" panose="02020603050405020304" pitchFamily="18" charset="0"/>
                <a:cs typeface="Times New Roman" panose="02020603050405020304" pitchFamily="18" charset="0"/>
              </a:rPr>
              <a:t>Processor: Intel i5 or above</a:t>
            </a:r>
          </a:p>
          <a:p>
            <a:r>
              <a:rPr lang="en-US" dirty="0">
                <a:latin typeface="Times New Roman" panose="02020603050405020304" pitchFamily="18" charset="0"/>
                <a:cs typeface="Times New Roman" panose="02020603050405020304" pitchFamily="18" charset="0"/>
              </a:rPr>
              <a:t>RAM: Minimum 4 GB (8 GB recommended)</a:t>
            </a:r>
          </a:p>
          <a:p>
            <a:r>
              <a:rPr lang="en-US" dirty="0">
                <a:latin typeface="Times New Roman" panose="02020603050405020304" pitchFamily="18" charset="0"/>
                <a:cs typeface="Times New Roman" panose="02020603050405020304" pitchFamily="18" charset="0"/>
              </a:rPr>
              <a:t>Internet Connection (for email notifications)</a:t>
            </a:r>
          </a:p>
        </p:txBody>
      </p:sp>
      <p:sp>
        <p:nvSpPr>
          <p:cNvPr id="4" name="TextBox 3">
            <a:extLst>
              <a:ext uri="{FF2B5EF4-FFF2-40B4-BE49-F238E27FC236}">
                <a16:creationId xmlns:a16="http://schemas.microsoft.com/office/drawing/2014/main" id="{56E0B222-C2FC-8F30-512F-F72355163223}"/>
              </a:ext>
            </a:extLst>
          </p:cNvPr>
          <p:cNvSpPr txBox="1"/>
          <p:nvPr/>
        </p:nvSpPr>
        <p:spPr>
          <a:xfrm>
            <a:off x="1633829" y="2774642"/>
            <a:ext cx="7047152" cy="2308324"/>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2.Software Requirements</a:t>
            </a:r>
          </a:p>
          <a:p>
            <a:r>
              <a:rPr lang="en-IN" dirty="0">
                <a:latin typeface="Times New Roman" panose="02020603050405020304" pitchFamily="18" charset="0"/>
                <a:cs typeface="Times New Roman" panose="02020603050405020304" pitchFamily="18" charset="0"/>
              </a:rPr>
              <a:t>Operating System: Windows </a:t>
            </a:r>
          </a:p>
          <a:p>
            <a:r>
              <a:rPr lang="en-IN" dirty="0">
                <a:latin typeface="Times New Roman" panose="02020603050405020304" pitchFamily="18" charset="0"/>
                <a:cs typeface="Times New Roman" panose="02020603050405020304" pitchFamily="18" charset="0"/>
              </a:rPr>
              <a:t>Programming Language: Python 3.11.2</a:t>
            </a:r>
          </a:p>
          <a:p>
            <a:r>
              <a:rPr lang="en-IN" dirty="0">
                <a:latin typeface="Times New Roman" panose="02020603050405020304" pitchFamily="18" charset="0"/>
                <a:cs typeface="Times New Roman" panose="02020603050405020304" pitchFamily="18" charset="0"/>
              </a:rPr>
              <a:t>Framework: Django</a:t>
            </a:r>
          </a:p>
          <a:p>
            <a:r>
              <a:rPr lang="en-IN" dirty="0">
                <a:latin typeface="Times New Roman" panose="02020603050405020304" pitchFamily="18" charset="0"/>
                <a:cs typeface="Times New Roman" panose="02020603050405020304" pitchFamily="18" charset="0"/>
              </a:rPr>
              <a:t>Frontend: HTML, CSS, Bootstrap</a:t>
            </a:r>
          </a:p>
          <a:p>
            <a:r>
              <a:rPr lang="en-IN" dirty="0">
                <a:latin typeface="Times New Roman" panose="02020603050405020304" pitchFamily="18" charset="0"/>
                <a:cs typeface="Times New Roman" panose="02020603050405020304" pitchFamily="18" charset="0"/>
              </a:rPr>
              <a:t>Database: SQLite </a:t>
            </a:r>
          </a:p>
          <a:p>
            <a:r>
              <a:rPr lang="en-IN" dirty="0">
                <a:latin typeface="Times New Roman" panose="02020603050405020304" pitchFamily="18" charset="0"/>
                <a:cs typeface="Times New Roman" panose="02020603050405020304" pitchFamily="18" charset="0"/>
              </a:rPr>
              <a:t>IDE/Editor: VS Code </a:t>
            </a:r>
          </a:p>
          <a:p>
            <a:r>
              <a:rPr lang="en-IN" dirty="0">
                <a:latin typeface="Times New Roman" panose="02020603050405020304" pitchFamily="18" charset="0"/>
                <a:cs typeface="Times New Roman" panose="02020603050405020304" pitchFamily="18" charset="0"/>
              </a:rPr>
              <a:t>Web Browser: Google Chrome / Firefox</a:t>
            </a:r>
          </a:p>
        </p:txBody>
      </p:sp>
      <p:sp>
        <p:nvSpPr>
          <p:cNvPr id="6" name="TextBox 5">
            <a:extLst>
              <a:ext uri="{FF2B5EF4-FFF2-40B4-BE49-F238E27FC236}">
                <a16:creationId xmlns:a16="http://schemas.microsoft.com/office/drawing/2014/main" id="{C3F8040C-5E9E-89BA-FD17-11544F73EB21}"/>
              </a:ext>
            </a:extLst>
          </p:cNvPr>
          <p:cNvSpPr txBox="1"/>
          <p:nvPr/>
        </p:nvSpPr>
        <p:spPr>
          <a:xfrm>
            <a:off x="1691680" y="5359965"/>
            <a:ext cx="4572000" cy="1200329"/>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3. Technologies Used</a:t>
            </a:r>
          </a:p>
          <a:p>
            <a:r>
              <a:rPr lang="en-IN" dirty="0">
                <a:latin typeface="Times New Roman" panose="02020603050405020304" pitchFamily="18" charset="0"/>
                <a:cs typeface="Times New Roman" panose="02020603050405020304" pitchFamily="18" charset="0"/>
              </a:rPr>
              <a:t>Backend: Django (Python)</a:t>
            </a:r>
          </a:p>
          <a:p>
            <a:r>
              <a:rPr lang="en-IN" dirty="0">
                <a:latin typeface="Times New Roman" panose="02020603050405020304" pitchFamily="18" charset="0"/>
                <a:cs typeface="Times New Roman" panose="02020603050405020304" pitchFamily="18" charset="0"/>
              </a:rPr>
              <a:t>Email Service: Gmail SMTP</a:t>
            </a:r>
          </a:p>
          <a:p>
            <a:r>
              <a:rPr lang="en-IN" dirty="0">
                <a:latin typeface="Times New Roman" panose="02020603050405020304" pitchFamily="18" charset="0"/>
                <a:cs typeface="Times New Roman" panose="02020603050405020304" pitchFamily="18" charset="0"/>
              </a:rPr>
              <a:t>Database Management: Django ORM</a:t>
            </a:r>
          </a:p>
        </p:txBody>
      </p:sp>
    </p:spTree>
    <p:extLst>
      <p:ext uri="{BB962C8B-B14F-4D97-AF65-F5344CB8AC3E}">
        <p14:creationId xmlns:p14="http://schemas.microsoft.com/office/powerpoint/2010/main" val="1980179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F6599-B255-51DC-E9B0-5D6B5F64E0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4BF188-5B65-1C8B-137E-C971C36B31F5}"/>
              </a:ext>
            </a:extLst>
          </p:cNvPr>
          <p:cNvSpPr>
            <a:spLocks noGrp="1"/>
          </p:cNvSpPr>
          <p:nvPr>
            <p:ph type="title"/>
          </p:nvPr>
        </p:nvSpPr>
        <p:spPr>
          <a:xfrm>
            <a:off x="1471131" y="116632"/>
            <a:ext cx="6347714" cy="1296144"/>
          </a:xfrm>
        </p:spPr>
        <p:txBody>
          <a:bodyPr>
            <a:normAutofit/>
          </a:bodyPr>
          <a:lstStyle/>
          <a:p>
            <a:r>
              <a:rPr lang="en-US" sz="3200" dirty="0">
                <a:latin typeface="Times New Roman" panose="02020603050405020304" pitchFamily="18" charset="0"/>
                <a:cs typeface="Times New Roman" panose="02020603050405020304" pitchFamily="18" charset="0"/>
              </a:rPr>
              <a:t>MODULES</a:t>
            </a:r>
            <a:endParaRPr lang="en-IN" sz="3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0C8891E-6D48-38DE-5D0C-D7C94891EA92}"/>
              </a:ext>
            </a:extLst>
          </p:cNvPr>
          <p:cNvSpPr txBox="1"/>
          <p:nvPr/>
        </p:nvSpPr>
        <p:spPr>
          <a:xfrm>
            <a:off x="1619672" y="1297314"/>
            <a:ext cx="6912768" cy="5028556"/>
          </a:xfrm>
          <a:prstGeom prst="rect">
            <a:avLst/>
          </a:prstGeom>
          <a:noFill/>
        </p:spPr>
        <p:txBody>
          <a:bodyPr wrap="square">
            <a:spAutoFit/>
          </a:bodyPr>
          <a:lstStyle/>
          <a:p>
            <a:pPr>
              <a:lnSpc>
                <a:spcPct val="150000"/>
              </a:lnSpc>
              <a:buNone/>
            </a:pPr>
            <a:r>
              <a:rPr lang="en-IN" b="1" dirty="0">
                <a:solidFill>
                  <a:schemeClr val="tx1">
                    <a:lumMod val="65000"/>
                    <a:lumOff val="35000"/>
                  </a:schemeClr>
                </a:solidFill>
                <a:latin typeface="Times New Roman" panose="02020603050405020304" pitchFamily="18" charset="0"/>
                <a:cs typeface="Times New Roman" panose="02020603050405020304" pitchFamily="18" charset="0"/>
              </a:rPr>
              <a:t>1. Admin/TPO Module</a:t>
            </a:r>
          </a:p>
          <a:p>
            <a:pPr>
              <a:lnSpc>
                <a:spcPct val="150000"/>
              </a:lnSpc>
              <a:buFont typeface="Arial" panose="020B0604020202020204" pitchFamily="34" charset="0"/>
              <a:buChar char="•"/>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Manage student database</a:t>
            </a:r>
          </a:p>
          <a:p>
            <a:pPr>
              <a:lnSpc>
                <a:spcPct val="150000"/>
              </a:lnSpc>
              <a:buFont typeface="Arial" panose="020B0604020202020204" pitchFamily="34" charset="0"/>
              <a:buChar char="•"/>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Add and update job postings</a:t>
            </a:r>
          </a:p>
          <a:p>
            <a:pPr>
              <a:lnSpc>
                <a:spcPct val="150000"/>
              </a:lnSpc>
              <a:buFont typeface="Arial" panose="020B0604020202020204" pitchFamily="34" charset="0"/>
              <a:buChar char="•"/>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View shortlisted students</a:t>
            </a:r>
          </a:p>
          <a:p>
            <a:pPr>
              <a:lnSpc>
                <a:spcPct val="150000"/>
              </a:lnSpc>
              <a:buFont typeface="Arial" panose="020B0604020202020204" pitchFamily="34" charset="0"/>
              <a:buChar char="•"/>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Monitor placement activities</a:t>
            </a:r>
          </a:p>
          <a:p>
            <a:pPr>
              <a:lnSpc>
                <a:spcPct val="150000"/>
              </a:lnSpc>
              <a:buNone/>
            </a:pPr>
            <a:r>
              <a:rPr lang="en-IN" b="1" dirty="0">
                <a:solidFill>
                  <a:schemeClr val="tx1">
                    <a:lumMod val="65000"/>
                    <a:lumOff val="35000"/>
                  </a:schemeClr>
                </a:solidFill>
                <a:latin typeface="Times New Roman" panose="02020603050405020304" pitchFamily="18" charset="0"/>
                <a:cs typeface="Times New Roman" panose="02020603050405020304" pitchFamily="18" charset="0"/>
              </a:rPr>
              <a:t>2. Student Module</a:t>
            </a:r>
          </a:p>
          <a:p>
            <a:pPr>
              <a:lnSpc>
                <a:spcPct val="150000"/>
              </a:lnSpc>
              <a:buFont typeface="Arial" panose="020B0604020202020204" pitchFamily="34" charset="0"/>
              <a:buChar char="•"/>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Student login and profile update</a:t>
            </a:r>
          </a:p>
          <a:p>
            <a:pPr>
              <a:lnSpc>
                <a:spcPct val="150000"/>
              </a:lnSpc>
              <a:buFont typeface="Arial" panose="020B0604020202020204" pitchFamily="34" charset="0"/>
              <a:buChar char="•"/>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View eligible job notifications</a:t>
            </a:r>
          </a:p>
          <a:p>
            <a:pPr>
              <a:lnSpc>
                <a:spcPct val="150000"/>
              </a:lnSpc>
              <a:buFont typeface="Arial" panose="020B0604020202020204" pitchFamily="34" charset="0"/>
              <a:buChar char="•"/>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Apply for jobs</a:t>
            </a:r>
          </a:p>
          <a:p>
            <a:pPr>
              <a:lnSpc>
                <a:spcPct val="150000"/>
              </a:lnSpc>
              <a:buNone/>
            </a:pPr>
            <a:r>
              <a:rPr lang="en-IN" b="1" dirty="0">
                <a:solidFill>
                  <a:schemeClr val="tx1">
                    <a:lumMod val="65000"/>
                    <a:lumOff val="35000"/>
                  </a:schemeClr>
                </a:solidFill>
                <a:latin typeface="Times New Roman" panose="02020603050405020304" pitchFamily="18" charset="0"/>
                <a:cs typeface="Times New Roman" panose="02020603050405020304" pitchFamily="18" charset="0"/>
              </a:rPr>
              <a:t>3. Job Management Module</a:t>
            </a:r>
          </a:p>
          <a:p>
            <a:pPr>
              <a:lnSpc>
                <a:spcPct val="150000"/>
              </a:lnSpc>
              <a:buFont typeface="Arial" panose="020B0604020202020204" pitchFamily="34" charset="0"/>
              <a:buChar char="•"/>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Store company/job details</a:t>
            </a:r>
          </a:p>
          <a:p>
            <a:pPr>
              <a:lnSpc>
                <a:spcPct val="150000"/>
              </a:lnSpc>
              <a:buFont typeface="Arial" panose="020B0604020202020204" pitchFamily="34" charset="0"/>
              <a:buChar char="•"/>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Define eligibility criteria (CGPA, skills, backlogs, branch)</a:t>
            </a:r>
          </a:p>
        </p:txBody>
      </p:sp>
    </p:spTree>
    <p:extLst>
      <p:ext uri="{BB962C8B-B14F-4D97-AF65-F5344CB8AC3E}">
        <p14:creationId xmlns:p14="http://schemas.microsoft.com/office/powerpoint/2010/main" val="3350295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61918-166C-B50C-F0BA-AFE6EBC48F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FAF54D-9998-AAD4-B3FB-9079373F49E0}"/>
              </a:ext>
            </a:extLst>
          </p:cNvPr>
          <p:cNvSpPr>
            <a:spLocks noGrp="1"/>
          </p:cNvSpPr>
          <p:nvPr>
            <p:ph type="title"/>
          </p:nvPr>
        </p:nvSpPr>
        <p:spPr>
          <a:xfrm>
            <a:off x="1471131" y="116632"/>
            <a:ext cx="6347714" cy="1296144"/>
          </a:xfrm>
        </p:spPr>
        <p:txBody>
          <a:bodyPr>
            <a:normAutofit/>
          </a:bodyPr>
          <a:lstStyle/>
          <a:p>
            <a:r>
              <a:rPr lang="en-US" sz="3200" dirty="0">
                <a:latin typeface="Times New Roman" panose="02020603050405020304" pitchFamily="18" charset="0"/>
                <a:cs typeface="Times New Roman" panose="02020603050405020304" pitchFamily="18" charset="0"/>
              </a:rPr>
              <a:t>MODULES</a:t>
            </a:r>
            <a:endParaRPr lang="en-IN" sz="3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F6F7D30-FF24-585E-A188-D9A41EFFC4F4}"/>
              </a:ext>
            </a:extLst>
          </p:cNvPr>
          <p:cNvSpPr txBox="1"/>
          <p:nvPr/>
        </p:nvSpPr>
        <p:spPr>
          <a:xfrm>
            <a:off x="1463870" y="1393510"/>
            <a:ext cx="6912768" cy="4439933"/>
          </a:xfrm>
          <a:prstGeom prst="rect">
            <a:avLst/>
          </a:prstGeom>
          <a:noFill/>
        </p:spPr>
        <p:txBody>
          <a:bodyPr wrap="square">
            <a:spAutoFit/>
          </a:bodyPr>
          <a:lstStyle/>
          <a:p>
            <a:pPr>
              <a:lnSpc>
                <a:spcPct val="200000"/>
              </a:lnSpc>
              <a:buNone/>
            </a:pPr>
            <a:r>
              <a:rPr lang="en-IN" b="1" dirty="0">
                <a:solidFill>
                  <a:schemeClr val="tx1">
                    <a:lumMod val="65000"/>
                    <a:lumOff val="35000"/>
                  </a:schemeClr>
                </a:solidFill>
                <a:latin typeface="Times New Roman" panose="02020603050405020304" pitchFamily="18" charset="0"/>
                <a:cs typeface="Times New Roman" panose="02020603050405020304" pitchFamily="18" charset="0"/>
              </a:rPr>
              <a:t>4. Eligibility Matching Module</a:t>
            </a:r>
          </a:p>
          <a:p>
            <a:pPr>
              <a:lnSpc>
                <a:spcPct val="200000"/>
              </a:lnSpc>
              <a:buFont typeface="Arial" panose="020B0604020202020204" pitchFamily="34" charset="0"/>
              <a:buChar char="•"/>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Automatically match student profiles with job criteria</a:t>
            </a:r>
          </a:p>
          <a:p>
            <a:pPr>
              <a:lnSpc>
                <a:spcPct val="200000"/>
              </a:lnSpc>
              <a:buFont typeface="Arial" panose="020B0604020202020204" pitchFamily="34" charset="0"/>
              <a:buChar char="•"/>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Generate eligible student list</a:t>
            </a:r>
          </a:p>
          <a:p>
            <a:pPr>
              <a:lnSpc>
                <a:spcPct val="200000"/>
              </a:lnSpc>
              <a:buNone/>
            </a:pPr>
            <a:r>
              <a:rPr lang="en-IN" b="1" dirty="0">
                <a:solidFill>
                  <a:schemeClr val="tx1">
                    <a:lumMod val="65000"/>
                    <a:lumOff val="35000"/>
                  </a:schemeClr>
                </a:solidFill>
                <a:latin typeface="Times New Roman" panose="02020603050405020304" pitchFamily="18" charset="0"/>
                <a:cs typeface="Times New Roman" panose="02020603050405020304" pitchFamily="18" charset="0"/>
              </a:rPr>
              <a:t>5. Notification Module</a:t>
            </a:r>
          </a:p>
          <a:p>
            <a:pPr>
              <a:lnSpc>
                <a:spcPct val="200000"/>
              </a:lnSpc>
              <a:buFont typeface="Arial" panose="020B0604020202020204" pitchFamily="34" charset="0"/>
              <a:buChar char="•"/>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Send email alerts to eligible students</a:t>
            </a:r>
          </a:p>
          <a:p>
            <a:pPr>
              <a:lnSpc>
                <a:spcPct val="200000"/>
              </a:lnSpc>
              <a:buNone/>
            </a:pPr>
            <a:r>
              <a:rPr lang="en-IN" b="1" dirty="0">
                <a:solidFill>
                  <a:schemeClr val="tx1">
                    <a:lumMod val="65000"/>
                    <a:lumOff val="35000"/>
                  </a:schemeClr>
                </a:solidFill>
                <a:latin typeface="Times New Roman" panose="02020603050405020304" pitchFamily="18" charset="0"/>
                <a:cs typeface="Times New Roman" panose="02020603050405020304" pitchFamily="18" charset="0"/>
              </a:rPr>
              <a:t>6. Reports &amp; Analytics Module</a:t>
            </a:r>
          </a:p>
          <a:p>
            <a:pPr>
              <a:lnSpc>
                <a:spcPct val="200000"/>
              </a:lnSpc>
              <a:buFont typeface="Arial" panose="020B0604020202020204" pitchFamily="34" charset="0"/>
              <a:buChar char="•"/>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Placement analytics</a:t>
            </a:r>
          </a:p>
          <a:p>
            <a:pPr>
              <a:lnSpc>
                <a:spcPct val="200000"/>
              </a:lnSpc>
              <a:buFont typeface="Arial" panose="020B0604020202020204" pitchFamily="34" charset="0"/>
              <a:buChar char="•"/>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Eligibility reports and student statistics</a:t>
            </a:r>
          </a:p>
        </p:txBody>
      </p:sp>
    </p:spTree>
    <p:extLst>
      <p:ext uri="{BB962C8B-B14F-4D97-AF65-F5344CB8AC3E}">
        <p14:creationId xmlns:p14="http://schemas.microsoft.com/office/powerpoint/2010/main" val="2770797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3048F-D8EB-5BD9-FF53-DA68CE4853E5}"/>
              </a:ext>
            </a:extLst>
          </p:cNvPr>
          <p:cNvSpPr>
            <a:spLocks noGrp="1"/>
          </p:cNvSpPr>
          <p:nvPr>
            <p:ph type="title"/>
          </p:nvPr>
        </p:nvSpPr>
        <p:spPr>
          <a:xfrm>
            <a:off x="-108520" y="836712"/>
            <a:ext cx="6347714" cy="1091208"/>
          </a:xfrm>
        </p:spPr>
        <p:txBody>
          <a:bodyPr>
            <a:normAutofit fontScale="90000"/>
          </a:bodyPr>
          <a:lstStyle/>
          <a:p>
            <a:pPr algn="ctr"/>
            <a:r>
              <a:rPr lang="en-IN" sz="4400" dirty="0">
                <a:solidFill>
                  <a:schemeClr val="tx1"/>
                </a:solidFill>
                <a:latin typeface="Times New Roman" panose="02020603050405020304" pitchFamily="18" charset="0"/>
                <a:cs typeface="Times New Roman" panose="02020603050405020304" pitchFamily="18" charset="0"/>
              </a:rPr>
              <a:t>REFERENCE</a:t>
            </a:r>
            <a:br>
              <a:rPr lang="en-IN" sz="4400" dirty="0">
                <a:solidFill>
                  <a:schemeClr val="tx1"/>
                </a:solidFill>
                <a:latin typeface="Times New Roman" panose="02020603050405020304" pitchFamily="18" charset="0"/>
                <a:cs typeface="Times New Roman" panose="02020603050405020304" pitchFamily="18" charset="0"/>
              </a:rPr>
            </a:br>
            <a:endParaRPr lang="en-US" dirty="0"/>
          </a:p>
        </p:txBody>
      </p:sp>
      <p:sp>
        <p:nvSpPr>
          <p:cNvPr id="4" name="TextBox 3">
            <a:extLst>
              <a:ext uri="{FF2B5EF4-FFF2-40B4-BE49-F238E27FC236}">
                <a16:creationId xmlns:a16="http://schemas.microsoft.com/office/drawing/2014/main" id="{A860F223-9F7F-7D6D-87F3-C45C01596AE6}"/>
              </a:ext>
            </a:extLst>
          </p:cNvPr>
          <p:cNvSpPr txBox="1"/>
          <p:nvPr/>
        </p:nvSpPr>
        <p:spPr>
          <a:xfrm>
            <a:off x="1475656" y="1628800"/>
            <a:ext cx="6984776" cy="3782061"/>
          </a:xfrm>
          <a:prstGeom prst="rect">
            <a:avLst/>
          </a:prstGeom>
          <a:noFill/>
        </p:spPr>
        <p:txBody>
          <a:bodyPr wrap="square">
            <a:spAutoFit/>
          </a:bodyPr>
          <a:lstStyle/>
          <a:p>
            <a:pPr algn="just">
              <a:lnSpc>
                <a:spcPct val="150000"/>
              </a:lnSpc>
              <a:buNone/>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[1] S. K. Shah and P. R. Deshmukh, “Automated Student Placement System using Data Mining Techniques,” </a:t>
            </a:r>
            <a:r>
              <a:rPr lang="en-IN" i="1" dirty="0">
                <a:solidFill>
                  <a:schemeClr val="tx1">
                    <a:lumMod val="65000"/>
                    <a:lumOff val="35000"/>
                  </a:schemeClr>
                </a:solidFill>
                <a:latin typeface="Times New Roman" panose="02020603050405020304" pitchFamily="18" charset="0"/>
                <a:cs typeface="Times New Roman" panose="02020603050405020304" pitchFamily="18" charset="0"/>
              </a:rPr>
              <a:t>International Journal of Computer Applications</a:t>
            </a:r>
            <a:r>
              <a:rPr lang="en-IN" dirty="0">
                <a:solidFill>
                  <a:schemeClr val="tx1">
                    <a:lumMod val="65000"/>
                    <a:lumOff val="35000"/>
                  </a:schemeClr>
                </a:solidFill>
                <a:latin typeface="Times New Roman" panose="02020603050405020304" pitchFamily="18" charset="0"/>
                <a:cs typeface="Times New Roman" panose="02020603050405020304" pitchFamily="18" charset="0"/>
              </a:rPr>
              <a:t>, vol. 178, no. 25, pp. 1–5, May 2019.</a:t>
            </a:r>
          </a:p>
          <a:p>
            <a:pPr algn="just">
              <a:lnSpc>
                <a:spcPct val="150000"/>
              </a:lnSpc>
              <a:buNone/>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[2] P. Singh and R. Garg, “A Smart Recruitment System Based on Skill Matching Using Machine Learning,” </a:t>
            </a:r>
            <a:r>
              <a:rPr lang="en-IN" i="1" dirty="0">
                <a:solidFill>
                  <a:schemeClr val="tx1">
                    <a:lumMod val="65000"/>
                    <a:lumOff val="35000"/>
                  </a:schemeClr>
                </a:solidFill>
                <a:latin typeface="Times New Roman" panose="02020603050405020304" pitchFamily="18" charset="0"/>
                <a:cs typeface="Times New Roman" panose="02020603050405020304" pitchFamily="18" charset="0"/>
              </a:rPr>
              <a:t>International Journal of Recent Technology and Engineering</a:t>
            </a:r>
            <a:r>
              <a:rPr lang="en-IN" dirty="0">
                <a:solidFill>
                  <a:schemeClr val="tx1">
                    <a:lumMod val="65000"/>
                    <a:lumOff val="35000"/>
                  </a:schemeClr>
                </a:solidFill>
                <a:latin typeface="Times New Roman" panose="02020603050405020304" pitchFamily="18" charset="0"/>
                <a:cs typeface="Times New Roman" panose="02020603050405020304" pitchFamily="18" charset="0"/>
              </a:rPr>
              <a:t>, vol. 8, no. 4, pp. 2102–2107, Nov. 2020.</a:t>
            </a:r>
          </a:p>
          <a:p>
            <a:pPr algn="just">
              <a:lnSpc>
                <a:spcPct val="150000"/>
              </a:lnSpc>
              <a:buNone/>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[3] M. A. Chowdhury, M. R. Islam, and S. Hossain, “An Online Platform for Student Job Placement,” in </a:t>
            </a:r>
            <a:r>
              <a:rPr lang="en-IN" i="1" dirty="0">
                <a:solidFill>
                  <a:schemeClr val="tx1">
                    <a:lumMod val="65000"/>
                    <a:lumOff val="35000"/>
                  </a:schemeClr>
                </a:solidFill>
                <a:latin typeface="Times New Roman" panose="02020603050405020304" pitchFamily="18" charset="0"/>
                <a:cs typeface="Times New Roman" panose="02020603050405020304" pitchFamily="18" charset="0"/>
              </a:rPr>
              <a:t>Proc. IEEE Int. Conf. Computer and Information Technology</a:t>
            </a:r>
            <a:r>
              <a:rPr lang="en-IN" dirty="0">
                <a:solidFill>
                  <a:schemeClr val="tx1">
                    <a:lumMod val="65000"/>
                    <a:lumOff val="35000"/>
                  </a:schemeClr>
                </a:solidFill>
                <a:latin typeface="Times New Roman" panose="02020603050405020304" pitchFamily="18" charset="0"/>
                <a:cs typeface="Times New Roman" panose="02020603050405020304" pitchFamily="18" charset="0"/>
              </a:rPr>
              <a:t>, Dhaka, Bangladesh, 2018, pp. 54–59.</a:t>
            </a:r>
          </a:p>
        </p:txBody>
      </p:sp>
    </p:spTree>
    <p:extLst>
      <p:ext uri="{BB962C8B-B14F-4D97-AF65-F5344CB8AC3E}">
        <p14:creationId xmlns:p14="http://schemas.microsoft.com/office/powerpoint/2010/main" val="3868157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5616" y="2204864"/>
            <a:ext cx="5841698" cy="2448272"/>
          </a:xfrm>
        </p:spPr>
        <p:txBody>
          <a:bodyPr>
            <a:normAutofit/>
          </a:bodyPr>
          <a:lstStyle/>
          <a:p>
            <a:pPr algn="ctr"/>
            <a:r>
              <a:rPr lang="en-US" sz="4000" b="1" i="1" dirty="0">
                <a:latin typeface="Times New Roman" pitchFamily="18" charset="0"/>
                <a:cs typeface="Times New Roman" pitchFamily="18" charset="0"/>
              </a:rPr>
              <a:t>THANK YOU</a:t>
            </a:r>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