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5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63" r:id="rId2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>
        <p:scale>
          <a:sx n="75" d="100"/>
          <a:sy n="75" d="100"/>
        </p:scale>
        <p:origin x="1690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5FCA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5FCA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5FCA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5FCA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066040"/>
            <a:ext cx="447675" cy="2792095"/>
          </a:xfrm>
          <a:custGeom>
            <a:avLst/>
            <a:gdLst/>
            <a:ahLst/>
            <a:cxnLst/>
            <a:rect l="l" t="t" r="r" b="b"/>
            <a:pathLst>
              <a:path w="447675" h="2792095">
                <a:moveTo>
                  <a:pt x="0" y="0"/>
                </a:moveTo>
                <a:lnTo>
                  <a:pt x="0" y="2791959"/>
                </a:lnTo>
                <a:lnTo>
                  <a:pt x="447372" y="2791959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130800" y="0"/>
            <a:ext cx="4013200" cy="6858000"/>
          </a:xfrm>
          <a:custGeom>
            <a:avLst/>
            <a:gdLst/>
            <a:ahLst/>
            <a:cxnLst/>
            <a:rect l="l" t="t" r="r" b="b"/>
            <a:pathLst>
              <a:path w="4013200" h="6858000">
                <a:moveTo>
                  <a:pt x="0" y="6858000"/>
                </a:moveTo>
                <a:lnTo>
                  <a:pt x="4013200" y="4181815"/>
                </a:lnTo>
              </a:path>
              <a:path w="4013200" h="6858000">
                <a:moveTo>
                  <a:pt x="1911857" y="0"/>
                </a:moveTo>
                <a:lnTo>
                  <a:pt x="3131057" y="6857999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891908" y="0"/>
            <a:ext cx="2252345" cy="6858000"/>
          </a:xfrm>
          <a:custGeom>
            <a:avLst/>
            <a:gdLst/>
            <a:ahLst/>
            <a:cxnLst/>
            <a:rect l="l" t="t" r="r" b="b"/>
            <a:pathLst>
              <a:path w="2252345" h="6858000">
                <a:moveTo>
                  <a:pt x="2023491" y="0"/>
                </a:moveTo>
                <a:lnTo>
                  <a:pt x="0" y="6858000"/>
                </a:lnTo>
                <a:lnTo>
                  <a:pt x="2252091" y="6858000"/>
                </a:lnTo>
                <a:lnTo>
                  <a:pt x="2252091" y="8203"/>
                </a:lnTo>
                <a:lnTo>
                  <a:pt x="2023491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206707" y="0"/>
            <a:ext cx="1937385" cy="6858000"/>
          </a:xfrm>
          <a:custGeom>
            <a:avLst/>
            <a:gdLst/>
            <a:ahLst/>
            <a:cxnLst/>
            <a:rect l="l" t="t" r="r" b="b"/>
            <a:pathLst>
              <a:path w="1937384" h="6858000">
                <a:moveTo>
                  <a:pt x="1937292" y="0"/>
                </a:moveTo>
                <a:lnTo>
                  <a:pt x="0" y="0"/>
                </a:lnTo>
                <a:lnTo>
                  <a:pt x="1200692" y="6858000"/>
                </a:lnTo>
                <a:lnTo>
                  <a:pt x="1937292" y="6858000"/>
                </a:lnTo>
                <a:lnTo>
                  <a:pt x="1937292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6637908" y="3921150"/>
            <a:ext cx="2506345" cy="2936875"/>
          </a:xfrm>
          <a:custGeom>
            <a:avLst/>
            <a:gdLst/>
            <a:ahLst/>
            <a:cxnLst/>
            <a:rect l="l" t="t" r="r" b="b"/>
            <a:pathLst>
              <a:path w="2506345" h="2936875">
                <a:moveTo>
                  <a:pt x="2506091" y="0"/>
                </a:moveTo>
                <a:lnTo>
                  <a:pt x="0" y="2936849"/>
                </a:lnTo>
                <a:lnTo>
                  <a:pt x="2506091" y="2936849"/>
                </a:lnTo>
                <a:lnTo>
                  <a:pt x="2506091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012700" y="0"/>
            <a:ext cx="2131695" cy="6858000"/>
          </a:xfrm>
          <a:custGeom>
            <a:avLst/>
            <a:gdLst/>
            <a:ahLst/>
            <a:cxnLst/>
            <a:rect l="l" t="t" r="r" b="b"/>
            <a:pathLst>
              <a:path w="2131695" h="6858000">
                <a:moveTo>
                  <a:pt x="2131299" y="0"/>
                </a:moveTo>
                <a:lnTo>
                  <a:pt x="0" y="0"/>
                </a:lnTo>
                <a:lnTo>
                  <a:pt x="1854439" y="6858000"/>
                </a:lnTo>
                <a:lnTo>
                  <a:pt x="2131299" y="6849806"/>
                </a:lnTo>
                <a:lnTo>
                  <a:pt x="213129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295767" y="0"/>
            <a:ext cx="848360" cy="6858000"/>
          </a:xfrm>
          <a:custGeom>
            <a:avLst/>
            <a:gdLst/>
            <a:ahLst/>
            <a:cxnLst/>
            <a:rect l="l" t="t" r="r" b="b"/>
            <a:pathLst>
              <a:path w="848359" h="6858000">
                <a:moveTo>
                  <a:pt x="848232" y="0"/>
                </a:moveTo>
                <a:lnTo>
                  <a:pt x="676198" y="0"/>
                </a:lnTo>
                <a:lnTo>
                  <a:pt x="0" y="6858000"/>
                </a:lnTo>
                <a:lnTo>
                  <a:pt x="848232" y="6858000"/>
                </a:lnTo>
                <a:lnTo>
                  <a:pt x="848232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095381" y="0"/>
            <a:ext cx="1049020" cy="6858000"/>
          </a:xfrm>
          <a:custGeom>
            <a:avLst/>
            <a:gdLst/>
            <a:ahLst/>
            <a:cxnLst/>
            <a:rect l="l" t="t" r="r" b="b"/>
            <a:pathLst>
              <a:path w="1049020" h="6858000">
                <a:moveTo>
                  <a:pt x="1048618" y="0"/>
                </a:moveTo>
                <a:lnTo>
                  <a:pt x="0" y="0"/>
                </a:lnTo>
                <a:lnTo>
                  <a:pt x="937366" y="6858000"/>
                </a:lnTo>
                <a:lnTo>
                  <a:pt x="1048618" y="6858000"/>
                </a:lnTo>
                <a:lnTo>
                  <a:pt x="1048618" y="0"/>
                </a:lnTo>
                <a:close/>
              </a:path>
            </a:pathLst>
          </a:custGeom>
          <a:solidFill>
            <a:srgbClr val="226192">
              <a:alpha val="819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068817" y="4918433"/>
            <a:ext cx="1075690" cy="1939925"/>
          </a:xfrm>
          <a:custGeom>
            <a:avLst/>
            <a:gdLst/>
            <a:ahLst/>
            <a:cxnLst/>
            <a:rect l="l" t="t" r="r" b="b"/>
            <a:pathLst>
              <a:path w="1075690" h="1939925">
                <a:moveTo>
                  <a:pt x="1075181" y="0"/>
                </a:moveTo>
                <a:lnTo>
                  <a:pt x="0" y="1939566"/>
                </a:lnTo>
                <a:lnTo>
                  <a:pt x="1075181" y="1934563"/>
                </a:lnTo>
                <a:lnTo>
                  <a:pt x="1075181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4370" y="452755"/>
            <a:ext cx="7430363" cy="893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5FCA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4370" y="1401653"/>
            <a:ext cx="7714615" cy="4553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ithub.com/" TargetMode="External"/><Relationship Id="rId3" Type="http://schemas.openxmlformats.org/officeDocument/2006/relationships/hyperlink" Target="https://spring.io/projects/spring-boot" TargetMode="External"/><Relationship Id="rId7" Type="http://schemas.openxmlformats.org/officeDocument/2006/relationships/hyperlink" Target="https://stackoverflow.com/" TargetMode="External"/><Relationship Id="rId2" Type="http://schemas.openxmlformats.org/officeDocument/2006/relationships/hyperlink" Target="https://fastapi.tiangolo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" TargetMode="External"/><Relationship Id="rId5" Type="http://schemas.openxmlformats.org/officeDocument/2006/relationships/hyperlink" Target="https://www.uml.org/" TargetMode="External"/><Relationship Id="rId4" Type="http://schemas.openxmlformats.org/officeDocument/2006/relationships/hyperlink" Target="https://dev.mysql.com/doc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26037" y="-4762"/>
            <a:ext cx="4022725" cy="6867525"/>
            <a:chOff x="5126037" y="-4762"/>
            <a:chExt cx="4022725" cy="6867525"/>
          </a:xfrm>
        </p:grpSpPr>
        <p:sp>
          <p:nvSpPr>
            <p:cNvPr id="3" name="object 3"/>
            <p:cNvSpPr/>
            <p:nvPr/>
          </p:nvSpPr>
          <p:spPr>
            <a:xfrm>
              <a:off x="5130800" y="0"/>
              <a:ext cx="4013200" cy="6858000"/>
            </a:xfrm>
            <a:custGeom>
              <a:avLst/>
              <a:gdLst/>
              <a:ahLst/>
              <a:cxnLst/>
              <a:rect l="l" t="t" r="r" b="b"/>
              <a:pathLst>
                <a:path w="4013200" h="6858000">
                  <a:moveTo>
                    <a:pt x="0" y="6858000"/>
                  </a:moveTo>
                  <a:lnTo>
                    <a:pt x="4013200" y="4181815"/>
                  </a:lnTo>
                </a:path>
                <a:path w="4013200" h="6858000">
                  <a:moveTo>
                    <a:pt x="1911857" y="0"/>
                  </a:moveTo>
                  <a:lnTo>
                    <a:pt x="3131057" y="6857999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891908" y="0"/>
              <a:ext cx="2252345" cy="6858000"/>
            </a:xfrm>
            <a:custGeom>
              <a:avLst/>
              <a:gdLst/>
              <a:ahLst/>
              <a:cxnLst/>
              <a:rect l="l" t="t" r="r" b="b"/>
              <a:pathLst>
                <a:path w="2252345" h="6858000">
                  <a:moveTo>
                    <a:pt x="2023491" y="0"/>
                  </a:moveTo>
                  <a:lnTo>
                    <a:pt x="0" y="6858000"/>
                  </a:lnTo>
                  <a:lnTo>
                    <a:pt x="2252091" y="6858000"/>
                  </a:lnTo>
                  <a:lnTo>
                    <a:pt x="2252091" y="8203"/>
                  </a:lnTo>
                  <a:lnTo>
                    <a:pt x="2023491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06707" y="0"/>
              <a:ext cx="1937385" cy="6858000"/>
            </a:xfrm>
            <a:custGeom>
              <a:avLst/>
              <a:gdLst/>
              <a:ahLst/>
              <a:cxnLst/>
              <a:rect l="l" t="t" r="r" b="b"/>
              <a:pathLst>
                <a:path w="1937384" h="6858000">
                  <a:moveTo>
                    <a:pt x="1937292" y="0"/>
                  </a:moveTo>
                  <a:lnTo>
                    <a:pt x="0" y="0"/>
                  </a:lnTo>
                  <a:lnTo>
                    <a:pt x="1200692" y="6858000"/>
                  </a:lnTo>
                  <a:lnTo>
                    <a:pt x="1937292" y="6858000"/>
                  </a:lnTo>
                  <a:lnTo>
                    <a:pt x="1937292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37908" y="3921150"/>
              <a:ext cx="2506345" cy="2936875"/>
            </a:xfrm>
            <a:custGeom>
              <a:avLst/>
              <a:gdLst/>
              <a:ahLst/>
              <a:cxnLst/>
              <a:rect l="l" t="t" r="r" b="b"/>
              <a:pathLst>
                <a:path w="2506345" h="2936875">
                  <a:moveTo>
                    <a:pt x="2506091" y="0"/>
                  </a:moveTo>
                  <a:lnTo>
                    <a:pt x="0" y="2936849"/>
                  </a:lnTo>
                  <a:lnTo>
                    <a:pt x="2506091" y="2936849"/>
                  </a:lnTo>
                  <a:lnTo>
                    <a:pt x="2506091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12700" y="0"/>
              <a:ext cx="2131695" cy="6858000"/>
            </a:xfrm>
            <a:custGeom>
              <a:avLst/>
              <a:gdLst/>
              <a:ahLst/>
              <a:cxnLst/>
              <a:rect l="l" t="t" r="r" b="b"/>
              <a:pathLst>
                <a:path w="2131695" h="6858000">
                  <a:moveTo>
                    <a:pt x="2131299" y="0"/>
                  </a:moveTo>
                  <a:lnTo>
                    <a:pt x="0" y="0"/>
                  </a:lnTo>
                  <a:lnTo>
                    <a:pt x="1854439" y="6858000"/>
                  </a:lnTo>
                  <a:lnTo>
                    <a:pt x="2131299" y="6849806"/>
                  </a:lnTo>
                  <a:lnTo>
                    <a:pt x="213129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95767" y="0"/>
              <a:ext cx="848360" cy="6858000"/>
            </a:xfrm>
            <a:custGeom>
              <a:avLst/>
              <a:gdLst/>
              <a:ahLst/>
              <a:cxnLst/>
              <a:rect l="l" t="t" r="r" b="b"/>
              <a:pathLst>
                <a:path w="848359" h="6858000">
                  <a:moveTo>
                    <a:pt x="848232" y="0"/>
                  </a:moveTo>
                  <a:lnTo>
                    <a:pt x="676198" y="0"/>
                  </a:lnTo>
                  <a:lnTo>
                    <a:pt x="0" y="6858000"/>
                  </a:lnTo>
                  <a:lnTo>
                    <a:pt x="848232" y="6858000"/>
                  </a:lnTo>
                  <a:lnTo>
                    <a:pt x="848232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95381" y="0"/>
              <a:ext cx="1049020" cy="6858000"/>
            </a:xfrm>
            <a:custGeom>
              <a:avLst/>
              <a:gdLst/>
              <a:ahLst/>
              <a:cxnLst/>
              <a:rect l="l" t="t" r="r" b="b"/>
              <a:pathLst>
                <a:path w="1049020" h="6858000">
                  <a:moveTo>
                    <a:pt x="1048618" y="0"/>
                  </a:moveTo>
                  <a:lnTo>
                    <a:pt x="0" y="0"/>
                  </a:lnTo>
                  <a:lnTo>
                    <a:pt x="937366" y="6858000"/>
                  </a:lnTo>
                  <a:lnTo>
                    <a:pt x="1048618" y="6858000"/>
                  </a:lnTo>
                  <a:lnTo>
                    <a:pt x="1048618" y="0"/>
                  </a:lnTo>
                  <a:close/>
                </a:path>
              </a:pathLst>
            </a:custGeom>
            <a:solidFill>
              <a:srgbClr val="226192">
                <a:alpha val="819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68817" y="4918433"/>
              <a:ext cx="1075690" cy="1939925"/>
            </a:xfrm>
            <a:custGeom>
              <a:avLst/>
              <a:gdLst/>
              <a:ahLst/>
              <a:cxnLst/>
              <a:rect l="l" t="t" r="r" b="b"/>
              <a:pathLst>
                <a:path w="1075690" h="1939925">
                  <a:moveTo>
                    <a:pt x="1075181" y="0"/>
                  </a:moveTo>
                  <a:lnTo>
                    <a:pt x="0" y="1939566"/>
                  </a:lnTo>
                  <a:lnTo>
                    <a:pt x="1075181" y="1934563"/>
                  </a:lnTo>
                  <a:lnTo>
                    <a:pt x="1075181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0" y="-75"/>
            <a:ext cx="8582660" cy="5634355"/>
            <a:chOff x="0" y="-75"/>
            <a:chExt cx="8582660" cy="5634355"/>
          </a:xfrm>
        </p:grpSpPr>
        <p:sp>
          <p:nvSpPr>
            <p:cNvPr id="12" name="object 12"/>
            <p:cNvSpPr/>
            <p:nvPr/>
          </p:nvSpPr>
          <p:spPr>
            <a:xfrm>
              <a:off x="0" y="-75"/>
              <a:ext cx="855344" cy="5634355"/>
            </a:xfrm>
            <a:custGeom>
              <a:avLst/>
              <a:gdLst/>
              <a:ahLst/>
              <a:cxnLst/>
              <a:rect l="l" t="t" r="r" b="b"/>
              <a:pathLst>
                <a:path w="855344" h="5634355">
                  <a:moveTo>
                    <a:pt x="855129" y="0"/>
                  </a:moveTo>
                  <a:lnTo>
                    <a:pt x="0" y="0"/>
                  </a:lnTo>
                  <a:lnTo>
                    <a:pt x="0" y="5633984"/>
                  </a:lnTo>
                  <a:lnTo>
                    <a:pt x="855129" y="8584"/>
                  </a:lnTo>
                  <a:lnTo>
                    <a:pt x="855129" y="0"/>
                  </a:lnTo>
                  <a:close/>
                </a:path>
              </a:pathLst>
            </a:custGeom>
            <a:solidFill>
              <a:srgbClr val="5FCAEE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0974" y="4433189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0" y="6350"/>
                  </a:moveTo>
                  <a:lnTo>
                    <a:pt x="1859" y="1859"/>
                  </a:lnTo>
                  <a:lnTo>
                    <a:pt x="6350" y="0"/>
                  </a:lnTo>
                  <a:lnTo>
                    <a:pt x="10840" y="1859"/>
                  </a:lnTo>
                  <a:lnTo>
                    <a:pt x="12700" y="6350"/>
                  </a:lnTo>
                  <a:lnTo>
                    <a:pt x="10840" y="10840"/>
                  </a:lnTo>
                  <a:lnTo>
                    <a:pt x="6350" y="12700"/>
                  </a:lnTo>
                  <a:lnTo>
                    <a:pt x="1859" y="1084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2315" y="4293108"/>
              <a:ext cx="8140700" cy="0"/>
            </a:xfrm>
            <a:custGeom>
              <a:avLst/>
              <a:gdLst/>
              <a:ahLst/>
              <a:cxnLst/>
              <a:rect l="l" t="t" r="r" b="b"/>
              <a:pathLst>
                <a:path w="8140700">
                  <a:moveTo>
                    <a:pt x="0" y="0"/>
                  </a:moveTo>
                  <a:lnTo>
                    <a:pt x="8140090" y="0"/>
                  </a:lnTo>
                </a:path>
              </a:pathLst>
            </a:custGeom>
            <a:ln w="12700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1180" rIns="0" bIns="0" rtlCol="0">
            <a:spAutoFit/>
          </a:bodyPr>
          <a:lstStyle/>
          <a:p>
            <a:pPr marL="768985">
              <a:lnSpc>
                <a:spcPct val="100000"/>
              </a:lnSpc>
              <a:spcBef>
                <a:spcPts val="270"/>
              </a:spcBef>
            </a:pPr>
            <a:r>
              <a:rPr sz="2000" spc="-10" dirty="0">
                <a:solidFill>
                  <a:srgbClr val="226E50"/>
                </a:solidFill>
                <a:latin typeface="Times New Roman"/>
                <a:cs typeface="Times New Roman"/>
              </a:rPr>
              <a:t>TEEGALA</a:t>
            </a:r>
            <a:r>
              <a:rPr sz="2000" spc="-105" dirty="0">
                <a:solidFill>
                  <a:srgbClr val="226E5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26E50"/>
                </a:solidFill>
                <a:latin typeface="Times New Roman"/>
                <a:cs typeface="Times New Roman"/>
              </a:rPr>
              <a:t>KRISHNA</a:t>
            </a:r>
            <a:r>
              <a:rPr sz="2000" spc="-130" dirty="0">
                <a:solidFill>
                  <a:srgbClr val="226E5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26E50"/>
                </a:solidFill>
                <a:latin typeface="Times New Roman"/>
                <a:cs typeface="Times New Roman"/>
              </a:rPr>
              <a:t>REDDY</a:t>
            </a:r>
            <a:r>
              <a:rPr sz="2000" spc="-65" dirty="0">
                <a:solidFill>
                  <a:srgbClr val="226E5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26E50"/>
                </a:solidFill>
                <a:latin typeface="Times New Roman"/>
                <a:cs typeface="Times New Roman"/>
              </a:rPr>
              <a:t>ENGINEERING</a:t>
            </a:r>
            <a:r>
              <a:rPr sz="2000" spc="-15" dirty="0">
                <a:solidFill>
                  <a:srgbClr val="226E5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26E50"/>
                </a:solidFill>
                <a:latin typeface="Times New Roman"/>
                <a:cs typeface="Times New Roman"/>
              </a:rPr>
              <a:t>COLLEGE</a:t>
            </a:r>
            <a:endParaRPr sz="2000">
              <a:latin typeface="Times New Roman"/>
              <a:cs typeface="Times New Roman"/>
            </a:endParaRPr>
          </a:p>
          <a:p>
            <a:pPr marL="1091565">
              <a:lnSpc>
                <a:spcPct val="100000"/>
              </a:lnSpc>
              <a:spcBef>
                <a:spcPts val="125"/>
              </a:spcBef>
            </a:pPr>
            <a:r>
              <a:rPr sz="1400" b="0" dirty="0">
                <a:solidFill>
                  <a:srgbClr val="226E50"/>
                </a:solidFill>
                <a:latin typeface="Times New Roman"/>
                <a:cs typeface="Times New Roman"/>
              </a:rPr>
              <a:t>(Approved</a:t>
            </a:r>
            <a:r>
              <a:rPr sz="1400" b="0" spc="-40" dirty="0">
                <a:solidFill>
                  <a:srgbClr val="226E50"/>
                </a:solidFill>
                <a:latin typeface="Times New Roman"/>
                <a:cs typeface="Times New Roman"/>
              </a:rPr>
              <a:t> </a:t>
            </a:r>
            <a:r>
              <a:rPr sz="1400" b="0" dirty="0">
                <a:solidFill>
                  <a:srgbClr val="226E50"/>
                </a:solidFill>
                <a:latin typeface="Times New Roman"/>
                <a:cs typeface="Times New Roman"/>
              </a:rPr>
              <a:t>By</a:t>
            </a:r>
            <a:r>
              <a:rPr sz="1400" b="0" spc="-80" dirty="0">
                <a:solidFill>
                  <a:srgbClr val="226E50"/>
                </a:solidFill>
                <a:latin typeface="Times New Roman"/>
                <a:cs typeface="Times New Roman"/>
              </a:rPr>
              <a:t> </a:t>
            </a:r>
            <a:r>
              <a:rPr sz="1400" b="0" dirty="0">
                <a:solidFill>
                  <a:srgbClr val="404040"/>
                </a:solidFill>
                <a:latin typeface="Times New Roman"/>
                <a:cs typeface="Times New Roman"/>
              </a:rPr>
              <a:t>AICTE</a:t>
            </a:r>
            <a:r>
              <a:rPr sz="1400" b="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0" dirty="0">
                <a:solidFill>
                  <a:srgbClr val="226E50"/>
                </a:solidFill>
                <a:latin typeface="Times New Roman"/>
                <a:cs typeface="Times New Roman"/>
              </a:rPr>
              <a:t>,</a:t>
            </a:r>
            <a:r>
              <a:rPr sz="1400" b="0" spc="-75" dirty="0">
                <a:solidFill>
                  <a:srgbClr val="226E50"/>
                </a:solidFill>
                <a:latin typeface="Times New Roman"/>
                <a:cs typeface="Times New Roman"/>
              </a:rPr>
              <a:t> </a:t>
            </a:r>
            <a:r>
              <a:rPr sz="1400" b="0" spc="-10" dirty="0">
                <a:solidFill>
                  <a:srgbClr val="226E50"/>
                </a:solidFill>
                <a:latin typeface="Times New Roman"/>
                <a:cs typeface="Times New Roman"/>
              </a:rPr>
              <a:t>Affiliated</a:t>
            </a:r>
            <a:r>
              <a:rPr sz="1400" b="0" spc="-65" dirty="0">
                <a:solidFill>
                  <a:srgbClr val="226E50"/>
                </a:solidFill>
                <a:latin typeface="Times New Roman"/>
                <a:cs typeface="Times New Roman"/>
              </a:rPr>
              <a:t> </a:t>
            </a:r>
            <a:r>
              <a:rPr sz="1400" b="0" spc="-20" dirty="0">
                <a:solidFill>
                  <a:srgbClr val="226E50"/>
                </a:solidFill>
                <a:latin typeface="Times New Roman"/>
                <a:cs typeface="Times New Roman"/>
              </a:rPr>
              <a:t>To</a:t>
            </a:r>
            <a:r>
              <a:rPr sz="1400" b="0" spc="5" dirty="0">
                <a:solidFill>
                  <a:srgbClr val="226E50"/>
                </a:solidFill>
                <a:latin typeface="Times New Roman"/>
                <a:cs typeface="Times New Roman"/>
              </a:rPr>
              <a:t> </a:t>
            </a:r>
            <a:r>
              <a:rPr sz="1400" b="0" spc="-10" dirty="0">
                <a:solidFill>
                  <a:srgbClr val="226E50"/>
                </a:solidFill>
                <a:latin typeface="Times New Roman"/>
                <a:cs typeface="Times New Roman"/>
              </a:rPr>
              <a:t>JNTUH,</a:t>
            </a:r>
            <a:r>
              <a:rPr sz="1400" b="0" spc="-75" dirty="0">
                <a:solidFill>
                  <a:srgbClr val="226E50"/>
                </a:solidFill>
                <a:latin typeface="Times New Roman"/>
                <a:cs typeface="Times New Roman"/>
              </a:rPr>
              <a:t> </a:t>
            </a:r>
            <a:r>
              <a:rPr sz="1400" b="0" dirty="0">
                <a:solidFill>
                  <a:srgbClr val="226E50"/>
                </a:solidFill>
                <a:latin typeface="Times New Roman"/>
                <a:cs typeface="Times New Roman"/>
              </a:rPr>
              <a:t>Accredited</a:t>
            </a:r>
            <a:r>
              <a:rPr sz="1400" b="0" spc="-20" dirty="0">
                <a:solidFill>
                  <a:srgbClr val="226E50"/>
                </a:solidFill>
                <a:latin typeface="Times New Roman"/>
                <a:cs typeface="Times New Roman"/>
              </a:rPr>
              <a:t> </a:t>
            </a:r>
            <a:r>
              <a:rPr sz="1400" b="0" dirty="0">
                <a:solidFill>
                  <a:srgbClr val="226E50"/>
                </a:solidFill>
                <a:latin typeface="Times New Roman"/>
                <a:cs typeface="Times New Roman"/>
              </a:rPr>
              <a:t>By </a:t>
            </a:r>
            <a:r>
              <a:rPr sz="1400" b="0" spc="-10" dirty="0">
                <a:solidFill>
                  <a:srgbClr val="226E50"/>
                </a:solidFill>
                <a:latin typeface="Times New Roman"/>
                <a:cs typeface="Times New Roman"/>
              </a:rPr>
              <a:t>NBA</a:t>
            </a:r>
            <a:r>
              <a:rPr sz="1400" b="0" spc="-150" dirty="0">
                <a:solidFill>
                  <a:srgbClr val="226E50"/>
                </a:solidFill>
                <a:latin typeface="Times New Roman"/>
                <a:cs typeface="Times New Roman"/>
              </a:rPr>
              <a:t> </a:t>
            </a:r>
            <a:r>
              <a:rPr sz="1400" b="0" dirty="0">
                <a:solidFill>
                  <a:srgbClr val="226E50"/>
                </a:solidFill>
                <a:latin typeface="Times New Roman"/>
                <a:cs typeface="Times New Roman"/>
              </a:rPr>
              <a:t>And</a:t>
            </a:r>
            <a:r>
              <a:rPr sz="1400" b="0" spc="-15" dirty="0">
                <a:solidFill>
                  <a:srgbClr val="226E50"/>
                </a:solidFill>
                <a:latin typeface="Times New Roman"/>
                <a:cs typeface="Times New Roman"/>
              </a:rPr>
              <a:t> </a:t>
            </a:r>
            <a:r>
              <a:rPr sz="1400" b="0" spc="-10" dirty="0">
                <a:solidFill>
                  <a:srgbClr val="226E50"/>
                </a:solidFill>
                <a:latin typeface="Times New Roman"/>
                <a:cs typeface="Times New Roman"/>
              </a:rPr>
              <a:t>NAAC)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17675" y="3368420"/>
            <a:ext cx="5987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05728"/>
                </a:solidFill>
                <a:latin typeface="Times New Roman"/>
                <a:cs typeface="Times New Roman"/>
              </a:rPr>
              <a:t>Department</a:t>
            </a:r>
            <a:r>
              <a:rPr sz="2400" spc="-15" dirty="0">
                <a:solidFill>
                  <a:srgbClr val="205728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5728"/>
                </a:solidFill>
                <a:latin typeface="Times New Roman"/>
                <a:cs typeface="Times New Roman"/>
              </a:rPr>
              <a:t>of</a:t>
            </a:r>
            <a:r>
              <a:rPr sz="2400" spc="-25" dirty="0">
                <a:solidFill>
                  <a:srgbClr val="205728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5728"/>
                </a:solidFill>
                <a:latin typeface="Times New Roman"/>
                <a:cs typeface="Times New Roman"/>
              </a:rPr>
              <a:t>Computer</a:t>
            </a:r>
            <a:r>
              <a:rPr sz="2400" spc="-5" dirty="0">
                <a:solidFill>
                  <a:srgbClr val="205728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5728"/>
                </a:solidFill>
                <a:latin typeface="Times New Roman"/>
                <a:cs typeface="Times New Roman"/>
              </a:rPr>
              <a:t>Science</a:t>
            </a:r>
            <a:r>
              <a:rPr sz="2400" spc="-35" dirty="0">
                <a:solidFill>
                  <a:srgbClr val="205728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5728"/>
                </a:solidFill>
                <a:latin typeface="Times New Roman"/>
                <a:cs typeface="Times New Roman"/>
              </a:rPr>
              <a:t>&amp;</a:t>
            </a:r>
            <a:r>
              <a:rPr sz="2400" spc="-20" dirty="0">
                <a:solidFill>
                  <a:srgbClr val="205728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05728"/>
                </a:solidFill>
                <a:latin typeface="Times New Roman"/>
                <a:cs typeface="Times New Roman"/>
              </a:rPr>
              <a:t>Engineering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1784" y="1575816"/>
            <a:ext cx="1376743" cy="127711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16102" y="4192015"/>
            <a:ext cx="3065145" cy="122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6100"/>
              </a:lnSpc>
              <a:spcBef>
                <a:spcPts val="100"/>
              </a:spcBef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HEAD</a:t>
            </a:r>
            <a:r>
              <a:rPr sz="18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1800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800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DEPARTMENT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Dr.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CH.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V.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PHANI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KRISHNA</a:t>
            </a:r>
            <a:endParaRPr sz="180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1005"/>
              </a:spcBef>
            </a:pPr>
            <a:r>
              <a:rPr sz="1800" spc="-10" dirty="0">
                <a:latin typeface="Times New Roman"/>
                <a:cs typeface="Times New Roman"/>
              </a:rPr>
              <a:t>Professor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87950" y="4192015"/>
            <a:ext cx="2809875" cy="122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835" marR="5080" indent="-572770">
              <a:lnSpc>
                <a:spcPct val="146100"/>
              </a:lnSpc>
              <a:spcBef>
                <a:spcPts val="100"/>
              </a:spcBef>
            </a:pPr>
            <a:r>
              <a:rPr sz="1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PROJECT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CO-</a:t>
            </a:r>
            <a:r>
              <a:rPr sz="180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ORDINATOR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Mrs.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A.MOUNIKA</a:t>
            </a:r>
            <a:endParaRPr sz="1800" dirty="0">
              <a:latin typeface="Times New Roman"/>
              <a:cs typeface="Times New Roman"/>
            </a:endParaRPr>
          </a:p>
          <a:p>
            <a:pPr marL="514984">
              <a:lnSpc>
                <a:spcPct val="100000"/>
              </a:lnSpc>
              <a:spcBef>
                <a:spcPts val="1005"/>
              </a:spcBef>
            </a:pPr>
            <a:r>
              <a:rPr sz="1800" dirty="0">
                <a:latin typeface="Times New Roman"/>
                <a:cs typeface="Times New Roman"/>
              </a:rPr>
              <a:t>Assistant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Professor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532" y="3717035"/>
            <a:ext cx="7741284" cy="31115"/>
          </a:xfrm>
          <a:custGeom>
            <a:avLst/>
            <a:gdLst/>
            <a:ahLst/>
            <a:cxnLst/>
            <a:rect l="l" t="t" r="r" b="b"/>
            <a:pathLst>
              <a:path w="7741284" h="31114">
                <a:moveTo>
                  <a:pt x="0" y="0"/>
                </a:moveTo>
                <a:lnTo>
                  <a:pt x="7741221" y="30606"/>
                </a:lnTo>
              </a:path>
            </a:pathLst>
          </a:custGeom>
          <a:ln w="9524">
            <a:solidFill>
              <a:srgbClr val="9D2C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9600" y="3941517"/>
            <a:ext cx="2286000" cy="1252907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372110">
              <a:lnSpc>
                <a:spcPct val="100000"/>
              </a:lnSpc>
              <a:spcBef>
                <a:spcPts val="1090"/>
              </a:spcBef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SUPERVISOR</a:t>
            </a:r>
            <a:endParaRPr lang="en-US" u="sng" dirty="0">
              <a:uFill>
                <a:solidFill>
                  <a:srgbClr val="000000"/>
                </a:solidFill>
              </a:uFill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090"/>
              </a:spcBef>
            </a:pPr>
            <a:r>
              <a:rPr sz="1800" spc="-10" dirty="0" err="1">
                <a:latin typeface="Times New Roman"/>
                <a:cs typeface="Times New Roman"/>
              </a:rPr>
              <a:t>Mrs.A.Mounika</a:t>
            </a:r>
            <a:endParaRPr lang="en-US" spc="-10" dirty="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090"/>
              </a:spcBef>
            </a:pPr>
            <a:r>
              <a:rPr lang="en-US" sz="180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ssistant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professor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1375" y="3989578"/>
            <a:ext cx="2775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NAME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1800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STUDENTS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1375" y="4262848"/>
            <a:ext cx="1824355" cy="829944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800" dirty="0">
                <a:solidFill>
                  <a:srgbClr val="3E3E3E"/>
                </a:solidFill>
                <a:latin typeface="Times New Roman"/>
                <a:cs typeface="Times New Roman"/>
              </a:rPr>
              <a:t>D.Chaitanya</a:t>
            </a:r>
            <a:r>
              <a:rPr sz="1800" spc="-100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E3E3E"/>
                </a:solidFill>
                <a:latin typeface="Times New Roman"/>
                <a:cs typeface="Times New Roman"/>
              </a:rPr>
              <a:t>Varma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800" dirty="0">
                <a:solidFill>
                  <a:srgbClr val="3E3E3E"/>
                </a:solidFill>
                <a:latin typeface="Times New Roman"/>
                <a:cs typeface="Times New Roman"/>
              </a:rPr>
              <a:t>G.Harinadh</a:t>
            </a:r>
            <a:r>
              <a:rPr sz="1800" spc="-20" dirty="0">
                <a:solidFill>
                  <a:srgbClr val="3E3E3E"/>
                </a:solidFill>
                <a:latin typeface="Times New Roman"/>
                <a:cs typeface="Times New Roman"/>
              </a:rPr>
              <a:t> Babu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36964" y="4262848"/>
            <a:ext cx="1459865" cy="829944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5"/>
              </a:spcBef>
            </a:pPr>
            <a:r>
              <a:rPr sz="1800" spc="-10" dirty="0">
                <a:solidFill>
                  <a:srgbClr val="3E3E3E"/>
                </a:solidFill>
                <a:latin typeface="Times New Roman"/>
                <a:cs typeface="Times New Roman"/>
              </a:rPr>
              <a:t>(23R91A0569)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800" spc="-10" dirty="0">
                <a:solidFill>
                  <a:srgbClr val="3E3E3E"/>
                </a:solidFill>
                <a:latin typeface="Times New Roman"/>
                <a:cs typeface="Times New Roman"/>
              </a:rPr>
              <a:t>(23R91A05A7)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1375" y="5193919"/>
            <a:ext cx="3631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E3E3E"/>
                </a:solidFill>
                <a:latin typeface="Times New Roman"/>
                <a:cs typeface="Times New Roman"/>
              </a:rPr>
              <a:t>I.Rishi</a:t>
            </a:r>
            <a:r>
              <a:rPr sz="1800" spc="-114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E3E3E"/>
                </a:solidFill>
                <a:latin typeface="Times New Roman"/>
                <a:cs typeface="Times New Roman"/>
              </a:rPr>
              <a:t>Adwith</a:t>
            </a:r>
            <a:r>
              <a:rPr sz="1800" spc="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E3E3E"/>
                </a:solidFill>
                <a:latin typeface="Times New Roman"/>
                <a:cs typeface="Times New Roman"/>
              </a:rPr>
              <a:t>Swastik</a:t>
            </a:r>
            <a:r>
              <a:rPr sz="1800" spc="-5" dirty="0">
                <a:solidFill>
                  <a:srgbClr val="3E3E3E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E3E3E"/>
                </a:solidFill>
                <a:latin typeface="Times New Roman"/>
                <a:cs typeface="Times New Roman"/>
              </a:rPr>
              <a:t>(23R91A05B8)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277236" y="1827021"/>
            <a:ext cx="542353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0570" marR="5080" indent="-738505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Farmer</a:t>
            </a:r>
            <a:r>
              <a:rPr sz="3600" b="0" spc="-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LinkedIn</a:t>
            </a:r>
            <a:r>
              <a:rPr sz="3600" b="0" spc="-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(Smart</a:t>
            </a:r>
            <a:r>
              <a:rPr sz="3600" b="0" spc="-2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Agri </a:t>
            </a:r>
            <a:r>
              <a:rPr sz="3600" b="0" spc="-30" dirty="0">
                <a:solidFill>
                  <a:srgbClr val="000000"/>
                </a:solidFill>
                <a:latin typeface="Times New Roman"/>
                <a:cs typeface="Times New Roman"/>
              </a:rPr>
              <a:t>Workforce</a:t>
            </a:r>
            <a:r>
              <a:rPr sz="3600" b="0" spc="-1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Platform)</a:t>
            </a:r>
            <a:endParaRPr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6505" y="512445"/>
            <a:ext cx="2414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10" dirty="0">
                <a:latin typeface="Times New Roman"/>
                <a:cs typeface="Times New Roman"/>
              </a:rPr>
              <a:t>CONTENTS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6576" y="1191946"/>
            <a:ext cx="6256224" cy="5486758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05"/>
              </a:spcBef>
              <a:buClr>
                <a:srgbClr val="5FCAEE"/>
              </a:buClr>
              <a:buFont typeface="Segoe UI Symbol"/>
              <a:buChar char="⮚"/>
              <a:tabLst>
                <a:tab pos="298450" algn="l"/>
              </a:tabLst>
            </a:pPr>
            <a:r>
              <a:rPr sz="2400" spc="-10" dirty="0">
                <a:latin typeface="Times New Roman"/>
                <a:cs typeface="Times New Roman"/>
              </a:rPr>
              <a:t>ABSTRACT</a:t>
            </a:r>
            <a:endParaRPr sz="24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05"/>
              </a:spcBef>
              <a:buClr>
                <a:srgbClr val="5FCAEE"/>
              </a:buClr>
              <a:buFont typeface="Segoe UI Symbol"/>
              <a:buChar char="⮚"/>
              <a:tabLst>
                <a:tab pos="298450" algn="l"/>
              </a:tabLst>
            </a:pPr>
            <a:r>
              <a:rPr sz="2400" spc="-10" dirty="0">
                <a:latin typeface="Times New Roman"/>
                <a:cs typeface="Times New Roman"/>
              </a:rPr>
              <a:t>INTRODUCTION</a:t>
            </a:r>
            <a:endParaRPr sz="24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00"/>
              </a:spcBef>
              <a:buClr>
                <a:srgbClr val="5FCAEE"/>
              </a:buClr>
              <a:buFont typeface="Segoe UI Symbol"/>
              <a:buChar char="⮚"/>
              <a:tabLst>
                <a:tab pos="298450" algn="l"/>
              </a:tabLst>
            </a:pPr>
            <a:r>
              <a:rPr sz="2400" dirty="0">
                <a:latin typeface="Times New Roman"/>
                <a:cs typeface="Times New Roman"/>
              </a:rPr>
              <a:t>EXISTING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</a:t>
            </a:r>
            <a:endParaRPr sz="24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994"/>
              </a:spcBef>
              <a:buClr>
                <a:srgbClr val="5FCAEE"/>
              </a:buClr>
              <a:buFont typeface="Segoe UI Symbol"/>
              <a:buChar char="⮚"/>
              <a:tabLst>
                <a:tab pos="298450" algn="l"/>
              </a:tabLst>
            </a:pPr>
            <a:r>
              <a:rPr sz="2400" dirty="0">
                <a:latin typeface="Times New Roman"/>
                <a:cs typeface="Times New Roman"/>
              </a:rPr>
              <a:t>PROPOSED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</a:t>
            </a:r>
            <a:endParaRPr lang="en-US" sz="2400" spc="-1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994"/>
              </a:spcBef>
              <a:buClr>
                <a:srgbClr val="5FCAEE"/>
              </a:buClr>
              <a:buFont typeface="Segoe UI Symbol"/>
              <a:buChar char="⮚"/>
              <a:tabLst>
                <a:tab pos="29845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SYSTEM ARCHITECTURE</a:t>
            </a:r>
          </a:p>
          <a:p>
            <a:pPr marL="298450" indent="-285750">
              <a:lnSpc>
                <a:spcPct val="100000"/>
              </a:lnSpc>
              <a:spcBef>
                <a:spcPts val="994"/>
              </a:spcBef>
              <a:buClr>
                <a:srgbClr val="5FCAEE"/>
              </a:buClr>
              <a:buFont typeface="Segoe UI Symbol"/>
              <a:buChar char="⮚"/>
              <a:tabLst>
                <a:tab pos="29845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UML DIAGRAMS</a:t>
            </a:r>
          </a:p>
          <a:p>
            <a:pPr marL="298450" indent="-285750">
              <a:lnSpc>
                <a:spcPct val="100000"/>
              </a:lnSpc>
              <a:spcBef>
                <a:spcPts val="994"/>
              </a:spcBef>
              <a:buClr>
                <a:srgbClr val="5FCAEE"/>
              </a:buClr>
              <a:buFont typeface="Segoe UI Symbol"/>
              <a:buChar char="⮚"/>
              <a:tabLst>
                <a:tab pos="29845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SYSTEM SPECIFICATIONS</a:t>
            </a:r>
          </a:p>
          <a:p>
            <a:pPr marL="298450" indent="-285750">
              <a:lnSpc>
                <a:spcPct val="100000"/>
              </a:lnSpc>
              <a:spcBef>
                <a:spcPts val="994"/>
              </a:spcBef>
              <a:buClr>
                <a:srgbClr val="5FCAEE"/>
              </a:buClr>
              <a:buFont typeface="Segoe UI Symbol"/>
              <a:buChar char="⮚"/>
              <a:tabLst>
                <a:tab pos="29845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MODULES</a:t>
            </a:r>
          </a:p>
          <a:p>
            <a:pPr marL="298450" indent="-285750">
              <a:lnSpc>
                <a:spcPct val="100000"/>
              </a:lnSpc>
              <a:spcBef>
                <a:spcPts val="994"/>
              </a:spcBef>
              <a:buClr>
                <a:srgbClr val="5FCAEE"/>
              </a:buClr>
              <a:buFont typeface="Segoe UI Symbol"/>
              <a:buChar char="⮚"/>
              <a:tabLst>
                <a:tab pos="29845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OUTPUT SCREENS</a:t>
            </a:r>
          </a:p>
          <a:p>
            <a:pPr marL="298450" indent="-285750">
              <a:lnSpc>
                <a:spcPct val="100000"/>
              </a:lnSpc>
              <a:spcBef>
                <a:spcPts val="994"/>
              </a:spcBef>
              <a:buClr>
                <a:srgbClr val="5FCAEE"/>
              </a:buClr>
              <a:buFont typeface="Segoe UI Symbol"/>
              <a:buChar char="⮚"/>
              <a:tabLst>
                <a:tab pos="29845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CONCLUSION</a:t>
            </a:r>
          </a:p>
          <a:p>
            <a:pPr marL="298450" indent="-285750">
              <a:lnSpc>
                <a:spcPct val="100000"/>
              </a:lnSpc>
              <a:spcBef>
                <a:spcPts val="994"/>
              </a:spcBef>
              <a:buClr>
                <a:srgbClr val="5FCAEE"/>
              </a:buClr>
              <a:buFont typeface="Segoe UI Symbol"/>
              <a:buChar char="⮚"/>
              <a:tabLst>
                <a:tab pos="298450" algn="l"/>
              </a:tabLst>
            </a:pPr>
            <a:r>
              <a:rPr lang="en-US" sz="2400">
                <a:latin typeface="Times New Roman"/>
                <a:cs typeface="Times New Roman"/>
              </a:rPr>
              <a:t>REFERENCE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040383"/>
            <a:ext cx="22428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Times New Roman"/>
                <a:cs typeface="Times New Roman"/>
              </a:rPr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749679"/>
            <a:ext cx="7768590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1800" spc="25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1800" spc="25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proposes</a:t>
            </a:r>
            <a:r>
              <a:rPr sz="1800" spc="2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smart</a:t>
            </a:r>
            <a:r>
              <a:rPr sz="1800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1800" spc="25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platform</a:t>
            </a:r>
            <a:r>
              <a:rPr sz="1800" spc="2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25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connects</a:t>
            </a:r>
            <a:r>
              <a:rPr sz="1800" spc="2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farmers,</a:t>
            </a:r>
            <a:r>
              <a:rPr sz="1800" spc="2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agricultural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workers,</a:t>
            </a:r>
            <a:r>
              <a:rPr sz="1800" spc="3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3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landowners</a:t>
            </a:r>
            <a:r>
              <a:rPr sz="1800" spc="3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1800" spc="3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3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single</a:t>
            </a:r>
            <a:r>
              <a:rPr sz="1800" spc="3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network,</a:t>
            </a:r>
            <a:r>
              <a:rPr sz="1800" spc="3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similar</a:t>
            </a:r>
            <a:r>
              <a:rPr sz="1800" spc="3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3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3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professional</a:t>
            </a:r>
            <a:r>
              <a:rPr sz="1800" spc="3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linking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1800" spc="4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spc="4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agriculture.</a:t>
            </a:r>
            <a:r>
              <a:rPr sz="1800" spc="4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4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1800" spc="4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provides</a:t>
            </a:r>
            <a:r>
              <a:rPr sz="1800" spc="4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AI-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sz="1800" spc="4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worker</a:t>
            </a:r>
            <a:r>
              <a:rPr sz="1800" spc="4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recommendations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using</a:t>
            </a:r>
            <a:r>
              <a:rPr sz="18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location,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skills,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availability,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 ratings,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cost.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-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wage</a:t>
            </a:r>
            <a:r>
              <a:rPr sz="18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prediction</a:t>
            </a:r>
            <a:r>
              <a:rPr sz="1800" spc="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module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helps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ensure</a:t>
            </a:r>
            <a:r>
              <a:rPr sz="1800" spc="3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fair</a:t>
            </a:r>
            <a:r>
              <a:rPr sz="1800" spc="3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pricing</a:t>
            </a:r>
            <a:r>
              <a:rPr sz="18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both</a:t>
            </a:r>
            <a:r>
              <a:rPr sz="1800" spc="3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farmers</a:t>
            </a:r>
            <a:r>
              <a:rPr sz="18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3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workers.</a:t>
            </a:r>
            <a:r>
              <a:rPr sz="1800" spc="4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Crop</a:t>
            </a:r>
            <a:r>
              <a:rPr sz="18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season-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sz="18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labor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planning</a:t>
            </a:r>
            <a:r>
              <a:rPr sz="1800" spc="7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simplifies</a:t>
            </a:r>
            <a:r>
              <a:rPr sz="1800" spc="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workforce</a:t>
            </a:r>
            <a:r>
              <a:rPr sz="1800" spc="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estimation.</a:t>
            </a:r>
            <a:r>
              <a:rPr sz="1800" spc="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Voice-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sz="1800" spc="7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interaction</a:t>
            </a:r>
            <a:r>
              <a:rPr sz="1800" spc="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1800" spc="7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Telugu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support</a:t>
            </a:r>
            <a:r>
              <a:rPr sz="1800" spc="2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improves</a:t>
            </a:r>
            <a:r>
              <a:rPr sz="18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accessibility</a:t>
            </a:r>
            <a:r>
              <a:rPr sz="1800" spc="22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spc="2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rural</a:t>
            </a:r>
            <a:r>
              <a:rPr sz="18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users.</a:t>
            </a:r>
            <a:r>
              <a:rPr sz="1800" spc="20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Additional</a:t>
            </a:r>
            <a:r>
              <a:rPr sz="18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features</a:t>
            </a:r>
            <a:r>
              <a:rPr sz="1800" spc="2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such</a:t>
            </a:r>
            <a:r>
              <a:rPr sz="1800" spc="20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18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worker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availability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calendars,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emergency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labour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requests,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land-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sharing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options,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weather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alerts</a:t>
            </a:r>
            <a:r>
              <a:rPr sz="1800" spc="24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enhance</a:t>
            </a:r>
            <a:r>
              <a:rPr sz="1800" spc="24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decision-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making.</a:t>
            </a:r>
            <a:r>
              <a:rPr sz="1800" spc="25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25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platform</a:t>
            </a:r>
            <a:r>
              <a:rPr sz="1800" spc="24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aims</a:t>
            </a:r>
            <a:r>
              <a:rPr sz="1800" spc="24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25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improve</a:t>
            </a:r>
            <a:r>
              <a:rPr sz="1800" spc="25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efficiency, transparency,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 trust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agricultural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labour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land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management.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5"/>
              </a:spcBef>
            </a:pPr>
            <a:r>
              <a:rPr dirty="0"/>
              <a:t>Agriculture</a:t>
            </a:r>
            <a:r>
              <a:rPr spc="200" dirty="0"/>
              <a:t> </a:t>
            </a:r>
            <a:r>
              <a:rPr dirty="0"/>
              <a:t>is</a:t>
            </a:r>
            <a:r>
              <a:rPr spc="204" dirty="0"/>
              <a:t> </a:t>
            </a:r>
            <a:r>
              <a:rPr dirty="0"/>
              <a:t>still</a:t>
            </a:r>
            <a:r>
              <a:rPr spc="204" dirty="0"/>
              <a:t> </a:t>
            </a:r>
            <a:r>
              <a:rPr dirty="0"/>
              <a:t>the</a:t>
            </a:r>
            <a:r>
              <a:rPr spc="195" dirty="0"/>
              <a:t> </a:t>
            </a:r>
            <a:r>
              <a:rPr dirty="0"/>
              <a:t>driving</a:t>
            </a:r>
            <a:r>
              <a:rPr spc="204" dirty="0"/>
              <a:t> </a:t>
            </a:r>
            <a:r>
              <a:rPr dirty="0"/>
              <a:t>force</a:t>
            </a:r>
            <a:r>
              <a:rPr spc="204" dirty="0"/>
              <a:t> </a:t>
            </a:r>
            <a:r>
              <a:rPr dirty="0"/>
              <a:t>behind</a:t>
            </a:r>
            <a:r>
              <a:rPr spc="200" dirty="0"/>
              <a:t> </a:t>
            </a:r>
            <a:r>
              <a:rPr dirty="0"/>
              <a:t>the</a:t>
            </a:r>
            <a:r>
              <a:rPr spc="185" dirty="0"/>
              <a:t> </a:t>
            </a:r>
            <a:r>
              <a:rPr dirty="0"/>
              <a:t>Indian</a:t>
            </a:r>
            <a:r>
              <a:rPr spc="204" dirty="0"/>
              <a:t> </a:t>
            </a:r>
            <a:r>
              <a:rPr dirty="0"/>
              <a:t>economy,</a:t>
            </a:r>
            <a:r>
              <a:rPr spc="204" dirty="0"/>
              <a:t> </a:t>
            </a:r>
            <a:r>
              <a:rPr dirty="0"/>
              <a:t>but</a:t>
            </a:r>
            <a:r>
              <a:rPr spc="200" dirty="0"/>
              <a:t> </a:t>
            </a:r>
            <a:r>
              <a:rPr dirty="0"/>
              <a:t>farmers</a:t>
            </a:r>
            <a:r>
              <a:rPr spc="190" dirty="0"/>
              <a:t> </a:t>
            </a:r>
            <a:r>
              <a:rPr spc="-10" dirty="0"/>
              <a:t>still </a:t>
            </a:r>
            <a:r>
              <a:rPr dirty="0"/>
              <a:t>have</a:t>
            </a:r>
            <a:r>
              <a:rPr spc="25" dirty="0"/>
              <a:t>  </a:t>
            </a:r>
            <a:r>
              <a:rPr dirty="0"/>
              <a:t>issues</a:t>
            </a:r>
            <a:r>
              <a:rPr spc="490" dirty="0"/>
              <a:t> </a:t>
            </a:r>
            <a:r>
              <a:rPr dirty="0"/>
              <a:t>with</a:t>
            </a:r>
            <a:r>
              <a:rPr spc="495" dirty="0"/>
              <a:t> </a:t>
            </a:r>
            <a:r>
              <a:rPr dirty="0"/>
              <a:t>accessing</a:t>
            </a:r>
            <a:r>
              <a:rPr spc="495" dirty="0"/>
              <a:t> </a:t>
            </a:r>
            <a:r>
              <a:rPr dirty="0"/>
              <a:t>reliable</a:t>
            </a:r>
            <a:r>
              <a:rPr spc="475" dirty="0"/>
              <a:t> </a:t>
            </a:r>
            <a:r>
              <a:rPr dirty="0"/>
              <a:t>labour,</a:t>
            </a:r>
            <a:r>
              <a:rPr spc="484" dirty="0"/>
              <a:t> </a:t>
            </a:r>
            <a:r>
              <a:rPr dirty="0"/>
              <a:t>determining</a:t>
            </a:r>
            <a:r>
              <a:rPr spc="495" dirty="0"/>
              <a:t> </a:t>
            </a:r>
            <a:r>
              <a:rPr dirty="0"/>
              <a:t>a</a:t>
            </a:r>
            <a:r>
              <a:rPr spc="25" dirty="0"/>
              <a:t>  </a:t>
            </a:r>
            <a:r>
              <a:rPr dirty="0"/>
              <a:t>fair</a:t>
            </a:r>
            <a:r>
              <a:rPr spc="480" dirty="0"/>
              <a:t> </a:t>
            </a:r>
            <a:r>
              <a:rPr dirty="0"/>
              <a:t>wage</a:t>
            </a:r>
            <a:r>
              <a:rPr spc="25" dirty="0"/>
              <a:t>  </a:t>
            </a:r>
            <a:r>
              <a:rPr dirty="0"/>
              <a:t>rate,</a:t>
            </a:r>
            <a:r>
              <a:rPr spc="490" dirty="0"/>
              <a:t> </a:t>
            </a:r>
            <a:r>
              <a:rPr spc="-25" dirty="0"/>
              <a:t>and </a:t>
            </a:r>
            <a:r>
              <a:rPr dirty="0"/>
              <a:t>effectively</a:t>
            </a:r>
            <a:r>
              <a:rPr spc="295" dirty="0"/>
              <a:t> </a:t>
            </a:r>
            <a:r>
              <a:rPr dirty="0"/>
              <a:t>utilizing</a:t>
            </a:r>
            <a:r>
              <a:rPr spc="285" dirty="0"/>
              <a:t> </a:t>
            </a:r>
            <a:r>
              <a:rPr dirty="0"/>
              <a:t>land</a:t>
            </a:r>
            <a:r>
              <a:rPr spc="270" dirty="0"/>
              <a:t> </a:t>
            </a:r>
            <a:r>
              <a:rPr dirty="0"/>
              <a:t>resources.</a:t>
            </a:r>
            <a:r>
              <a:rPr spc="290" dirty="0"/>
              <a:t> </a:t>
            </a:r>
            <a:r>
              <a:rPr dirty="0"/>
              <a:t>Most</a:t>
            </a:r>
            <a:r>
              <a:rPr spc="285" dirty="0"/>
              <a:t> </a:t>
            </a:r>
            <a:r>
              <a:rPr dirty="0"/>
              <a:t>of</a:t>
            </a:r>
            <a:r>
              <a:rPr spc="285" dirty="0"/>
              <a:t> </a:t>
            </a:r>
            <a:r>
              <a:rPr dirty="0"/>
              <a:t>the</a:t>
            </a:r>
            <a:r>
              <a:rPr spc="275" dirty="0"/>
              <a:t> </a:t>
            </a:r>
            <a:r>
              <a:rPr dirty="0"/>
              <a:t>current</a:t>
            </a:r>
            <a:r>
              <a:rPr spc="270" dirty="0"/>
              <a:t> </a:t>
            </a:r>
            <a:r>
              <a:rPr dirty="0"/>
              <a:t>agricultural</a:t>
            </a:r>
            <a:r>
              <a:rPr spc="290" dirty="0"/>
              <a:t> </a:t>
            </a:r>
            <a:r>
              <a:rPr spc="-10" dirty="0"/>
              <a:t>applications </a:t>
            </a:r>
            <a:r>
              <a:rPr dirty="0"/>
              <a:t>available</a:t>
            </a:r>
            <a:r>
              <a:rPr spc="290" dirty="0"/>
              <a:t> </a:t>
            </a:r>
            <a:r>
              <a:rPr dirty="0"/>
              <a:t>are</a:t>
            </a:r>
            <a:r>
              <a:rPr spc="290" dirty="0"/>
              <a:t> </a:t>
            </a:r>
            <a:r>
              <a:rPr dirty="0"/>
              <a:t>related</a:t>
            </a:r>
            <a:r>
              <a:rPr spc="285" dirty="0"/>
              <a:t> </a:t>
            </a:r>
            <a:r>
              <a:rPr dirty="0"/>
              <a:t>to</a:t>
            </a:r>
            <a:r>
              <a:rPr spc="295" dirty="0"/>
              <a:t> </a:t>
            </a:r>
            <a:r>
              <a:rPr dirty="0"/>
              <a:t>advisory,</a:t>
            </a:r>
            <a:r>
              <a:rPr spc="305" dirty="0"/>
              <a:t> </a:t>
            </a:r>
            <a:r>
              <a:rPr dirty="0"/>
              <a:t>equipment</a:t>
            </a:r>
            <a:r>
              <a:rPr spc="285" dirty="0"/>
              <a:t> </a:t>
            </a:r>
            <a:r>
              <a:rPr dirty="0"/>
              <a:t>rental,</a:t>
            </a:r>
            <a:r>
              <a:rPr spc="305" dirty="0"/>
              <a:t> </a:t>
            </a:r>
            <a:r>
              <a:rPr dirty="0"/>
              <a:t>or</a:t>
            </a:r>
            <a:r>
              <a:rPr spc="295" dirty="0"/>
              <a:t> </a:t>
            </a:r>
            <a:r>
              <a:rPr dirty="0"/>
              <a:t>market</a:t>
            </a:r>
            <a:r>
              <a:rPr spc="295" dirty="0"/>
              <a:t> </a:t>
            </a:r>
            <a:r>
              <a:rPr dirty="0"/>
              <a:t>prices,</a:t>
            </a:r>
            <a:r>
              <a:rPr spc="300" dirty="0"/>
              <a:t> </a:t>
            </a:r>
            <a:r>
              <a:rPr dirty="0"/>
              <a:t>but</a:t>
            </a:r>
            <a:r>
              <a:rPr spc="300" dirty="0"/>
              <a:t> </a:t>
            </a:r>
            <a:r>
              <a:rPr spc="-10" dirty="0"/>
              <a:t>labour </a:t>
            </a:r>
            <a:r>
              <a:rPr dirty="0"/>
              <a:t>management</a:t>
            </a:r>
            <a:r>
              <a:rPr spc="45" dirty="0"/>
              <a:t> </a:t>
            </a:r>
            <a:r>
              <a:rPr dirty="0"/>
              <a:t>is</a:t>
            </a:r>
            <a:r>
              <a:rPr spc="40" dirty="0"/>
              <a:t> </a:t>
            </a:r>
            <a:r>
              <a:rPr dirty="0"/>
              <a:t>still</a:t>
            </a:r>
            <a:r>
              <a:rPr spc="40" dirty="0"/>
              <a:t> </a:t>
            </a:r>
            <a:r>
              <a:rPr dirty="0"/>
              <a:t>done</a:t>
            </a:r>
            <a:r>
              <a:rPr spc="35" dirty="0"/>
              <a:t> </a:t>
            </a:r>
            <a:r>
              <a:rPr dirty="0"/>
              <a:t>manually</a:t>
            </a:r>
            <a:r>
              <a:rPr spc="60" dirty="0"/>
              <a:t> </a:t>
            </a:r>
            <a:r>
              <a:rPr dirty="0"/>
              <a:t>by</a:t>
            </a:r>
            <a:r>
              <a:rPr spc="50" dirty="0"/>
              <a:t> </a:t>
            </a:r>
            <a:r>
              <a:rPr dirty="0"/>
              <a:t>networking</a:t>
            </a:r>
            <a:r>
              <a:rPr spc="45" dirty="0"/>
              <a:t> </a:t>
            </a:r>
            <a:r>
              <a:rPr dirty="0"/>
              <a:t>with</a:t>
            </a:r>
            <a:r>
              <a:rPr spc="35" dirty="0"/>
              <a:t> </a:t>
            </a:r>
            <a:r>
              <a:rPr dirty="0"/>
              <a:t>people.</a:t>
            </a:r>
            <a:r>
              <a:rPr spc="35" dirty="0"/>
              <a:t> </a:t>
            </a:r>
            <a:r>
              <a:rPr dirty="0"/>
              <a:t>This</a:t>
            </a:r>
            <a:r>
              <a:rPr spc="40" dirty="0"/>
              <a:t> </a:t>
            </a:r>
            <a:r>
              <a:rPr dirty="0"/>
              <a:t>results</a:t>
            </a:r>
            <a:r>
              <a:rPr spc="25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spc="-20" dirty="0"/>
              <a:t>time </a:t>
            </a:r>
            <a:r>
              <a:rPr dirty="0"/>
              <a:t>wastage,</a:t>
            </a:r>
            <a:r>
              <a:rPr spc="30" dirty="0"/>
              <a:t> </a:t>
            </a:r>
            <a:r>
              <a:rPr dirty="0"/>
              <a:t>disputes</a:t>
            </a:r>
            <a:r>
              <a:rPr spc="30" dirty="0"/>
              <a:t> </a:t>
            </a:r>
            <a:r>
              <a:rPr dirty="0"/>
              <a:t>over</a:t>
            </a:r>
            <a:r>
              <a:rPr spc="35" dirty="0"/>
              <a:t> </a:t>
            </a:r>
            <a:r>
              <a:rPr dirty="0"/>
              <a:t>wages,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dirty="0"/>
              <a:t>unavailability</a:t>
            </a:r>
            <a:r>
              <a:rPr spc="35" dirty="0"/>
              <a:t> </a:t>
            </a:r>
            <a:r>
              <a:rPr dirty="0"/>
              <a:t>of</a:t>
            </a:r>
            <a:r>
              <a:rPr spc="40" dirty="0"/>
              <a:t> </a:t>
            </a:r>
            <a:r>
              <a:rPr dirty="0"/>
              <a:t>labour</a:t>
            </a:r>
            <a:r>
              <a:rPr spc="25" dirty="0"/>
              <a:t> </a:t>
            </a:r>
            <a:r>
              <a:rPr dirty="0"/>
              <a:t>during</a:t>
            </a:r>
            <a:r>
              <a:rPr spc="30" dirty="0"/>
              <a:t> </a:t>
            </a:r>
            <a:r>
              <a:rPr dirty="0"/>
              <a:t>peak</a:t>
            </a:r>
            <a:r>
              <a:rPr spc="20" dirty="0"/>
              <a:t> </a:t>
            </a:r>
            <a:r>
              <a:rPr spc="-10" dirty="0"/>
              <a:t>agricultural </a:t>
            </a:r>
            <a:r>
              <a:rPr dirty="0"/>
              <a:t>seasons.</a:t>
            </a:r>
            <a:r>
              <a:rPr spc="10" dirty="0"/>
              <a:t> </a:t>
            </a:r>
            <a:r>
              <a:rPr dirty="0"/>
              <a:t>With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rise of</a:t>
            </a:r>
            <a:r>
              <a:rPr spc="5" dirty="0"/>
              <a:t> </a:t>
            </a:r>
            <a:r>
              <a:rPr dirty="0"/>
              <a:t>smartphone</a:t>
            </a:r>
            <a:r>
              <a:rPr spc="15" dirty="0"/>
              <a:t> </a:t>
            </a:r>
            <a:r>
              <a:rPr dirty="0"/>
              <a:t>usage</a:t>
            </a:r>
            <a:r>
              <a:rPr spc="-5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dirty="0"/>
              <a:t>rural</a:t>
            </a:r>
            <a:r>
              <a:rPr spc="15" dirty="0"/>
              <a:t> </a:t>
            </a:r>
            <a:r>
              <a:rPr dirty="0"/>
              <a:t>areas,</a:t>
            </a:r>
            <a:r>
              <a:rPr spc="-5" dirty="0"/>
              <a:t> </a:t>
            </a:r>
            <a:r>
              <a:rPr dirty="0"/>
              <a:t>there</a:t>
            </a:r>
            <a:r>
              <a:rPr spc="5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dirty="0"/>
              <a:t>great</a:t>
            </a:r>
            <a:r>
              <a:rPr spc="15" dirty="0"/>
              <a:t> </a:t>
            </a:r>
            <a:r>
              <a:rPr dirty="0"/>
              <a:t>need</a:t>
            </a:r>
            <a:r>
              <a:rPr spc="15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spc="-50" dirty="0"/>
              <a:t>a </a:t>
            </a:r>
            <a:r>
              <a:rPr dirty="0"/>
              <a:t>platform</a:t>
            </a:r>
            <a:r>
              <a:rPr spc="295" dirty="0"/>
              <a:t> </a:t>
            </a:r>
            <a:r>
              <a:rPr dirty="0"/>
              <a:t>that</a:t>
            </a:r>
            <a:r>
              <a:rPr spc="305" dirty="0"/>
              <a:t> </a:t>
            </a:r>
            <a:r>
              <a:rPr dirty="0"/>
              <a:t>brings</a:t>
            </a:r>
            <a:r>
              <a:rPr spc="300" dirty="0"/>
              <a:t> </a:t>
            </a:r>
            <a:r>
              <a:rPr dirty="0"/>
              <a:t>farmers,</a:t>
            </a:r>
            <a:r>
              <a:rPr spc="310" dirty="0"/>
              <a:t> </a:t>
            </a:r>
            <a:r>
              <a:rPr dirty="0"/>
              <a:t>agricultural</a:t>
            </a:r>
            <a:r>
              <a:rPr spc="280" dirty="0"/>
              <a:t> </a:t>
            </a:r>
            <a:r>
              <a:rPr dirty="0"/>
              <a:t>labour,</a:t>
            </a:r>
            <a:r>
              <a:rPr spc="310" dirty="0"/>
              <a:t> </a:t>
            </a:r>
            <a:r>
              <a:rPr dirty="0"/>
              <a:t>and</a:t>
            </a:r>
            <a:r>
              <a:rPr spc="295" dirty="0"/>
              <a:t> </a:t>
            </a:r>
            <a:r>
              <a:rPr dirty="0"/>
              <a:t>landowners</a:t>
            </a:r>
            <a:r>
              <a:rPr spc="300" dirty="0"/>
              <a:t> </a:t>
            </a:r>
            <a:r>
              <a:rPr dirty="0"/>
              <a:t>together</a:t>
            </a:r>
            <a:r>
              <a:rPr spc="295" dirty="0"/>
              <a:t> </a:t>
            </a:r>
            <a:r>
              <a:rPr dirty="0"/>
              <a:t>in</a:t>
            </a:r>
            <a:r>
              <a:rPr spc="290" dirty="0"/>
              <a:t> </a:t>
            </a:r>
            <a:r>
              <a:rPr spc="-25" dirty="0"/>
              <a:t>an </a:t>
            </a:r>
            <a:r>
              <a:rPr dirty="0"/>
              <a:t>organized</a:t>
            </a:r>
            <a:r>
              <a:rPr spc="145" dirty="0"/>
              <a:t>  </a:t>
            </a:r>
            <a:r>
              <a:rPr dirty="0"/>
              <a:t>and</a:t>
            </a:r>
            <a:r>
              <a:rPr spc="145" dirty="0"/>
              <a:t>  </a:t>
            </a:r>
            <a:r>
              <a:rPr dirty="0"/>
              <a:t>trustworthy</a:t>
            </a:r>
            <a:r>
              <a:rPr spc="155" dirty="0"/>
              <a:t>  </a:t>
            </a:r>
            <a:r>
              <a:rPr dirty="0"/>
              <a:t>manner.</a:t>
            </a:r>
            <a:r>
              <a:rPr spc="145" dirty="0"/>
              <a:t>  </a:t>
            </a:r>
            <a:r>
              <a:rPr dirty="0"/>
              <a:t>This</a:t>
            </a:r>
            <a:r>
              <a:rPr spc="150" dirty="0"/>
              <a:t>  </a:t>
            </a:r>
            <a:r>
              <a:rPr dirty="0"/>
              <a:t>proposal</a:t>
            </a:r>
            <a:r>
              <a:rPr spc="150" dirty="0"/>
              <a:t>  </a:t>
            </a:r>
            <a:r>
              <a:rPr dirty="0"/>
              <a:t>brings</a:t>
            </a:r>
            <a:r>
              <a:rPr spc="150" dirty="0"/>
              <a:t>  </a:t>
            </a:r>
            <a:r>
              <a:rPr dirty="0"/>
              <a:t>forth</a:t>
            </a:r>
            <a:r>
              <a:rPr spc="150" dirty="0"/>
              <a:t>  </a:t>
            </a:r>
            <a:r>
              <a:rPr dirty="0"/>
              <a:t>a</a:t>
            </a:r>
            <a:r>
              <a:rPr spc="155" dirty="0"/>
              <a:t>  </a:t>
            </a:r>
            <a:r>
              <a:rPr spc="-10" dirty="0"/>
              <a:t>smart-</a:t>
            </a:r>
            <a:r>
              <a:rPr spc="-20" dirty="0"/>
              <a:t>agri </a:t>
            </a:r>
            <a:r>
              <a:rPr dirty="0"/>
              <a:t>workforce</a:t>
            </a:r>
            <a:r>
              <a:rPr spc="434" dirty="0"/>
              <a:t> </a:t>
            </a:r>
            <a:r>
              <a:rPr dirty="0"/>
              <a:t>application</a:t>
            </a:r>
            <a:r>
              <a:rPr spc="430" dirty="0"/>
              <a:t> </a:t>
            </a:r>
            <a:r>
              <a:rPr dirty="0"/>
              <a:t>that</a:t>
            </a:r>
            <a:r>
              <a:rPr spc="430" dirty="0"/>
              <a:t> </a:t>
            </a:r>
            <a:r>
              <a:rPr dirty="0"/>
              <a:t>utilizes</a:t>
            </a:r>
            <a:r>
              <a:rPr spc="434" dirty="0"/>
              <a:t> </a:t>
            </a:r>
            <a:r>
              <a:rPr dirty="0"/>
              <a:t>AI</a:t>
            </a:r>
            <a:r>
              <a:rPr spc="420" dirty="0"/>
              <a:t> </a:t>
            </a:r>
            <a:r>
              <a:rPr dirty="0"/>
              <a:t>recommendations,</a:t>
            </a:r>
            <a:r>
              <a:rPr spc="445" dirty="0"/>
              <a:t> </a:t>
            </a:r>
            <a:r>
              <a:rPr dirty="0"/>
              <a:t>voice</a:t>
            </a:r>
            <a:r>
              <a:rPr spc="434" dirty="0"/>
              <a:t> </a:t>
            </a:r>
            <a:r>
              <a:rPr dirty="0"/>
              <a:t>interaction,</a:t>
            </a:r>
            <a:r>
              <a:rPr spc="434" dirty="0"/>
              <a:t> </a:t>
            </a:r>
            <a:r>
              <a:rPr spc="-25" dirty="0"/>
              <a:t>and </a:t>
            </a:r>
            <a:r>
              <a:rPr dirty="0"/>
              <a:t>availability</a:t>
            </a:r>
            <a:r>
              <a:rPr spc="-35" dirty="0"/>
              <a:t> </a:t>
            </a:r>
            <a:r>
              <a:rPr dirty="0"/>
              <a:t>tracking</a:t>
            </a:r>
            <a:r>
              <a:rPr spc="-1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make labour</a:t>
            </a:r>
            <a:r>
              <a:rPr spc="-1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land</a:t>
            </a:r>
            <a:r>
              <a:rPr spc="-10" dirty="0"/>
              <a:t> </a:t>
            </a:r>
            <a:r>
              <a:rPr dirty="0"/>
              <a:t>sharing</a:t>
            </a:r>
            <a:r>
              <a:rPr spc="-10" dirty="0"/>
              <a:t> easier.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5340" y="457200"/>
            <a:ext cx="36036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Times New Roman"/>
                <a:cs typeface="Times New Roman"/>
              </a:rPr>
              <a:t>EXISTING</a:t>
            </a:r>
            <a:r>
              <a:rPr b="0" spc="-6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8469" y="1038605"/>
            <a:ext cx="7529195" cy="504190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20"/>
              </a:spcBef>
            </a:pP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900" spc="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9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existing</a:t>
            </a:r>
            <a:r>
              <a:rPr sz="19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system,</a:t>
            </a:r>
            <a:r>
              <a:rPr sz="19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agricultural</a:t>
            </a:r>
            <a:r>
              <a:rPr sz="19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labor</a:t>
            </a:r>
            <a:r>
              <a:rPr sz="19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r>
              <a:rPr sz="1900" spc="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9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mostly</a:t>
            </a:r>
            <a:r>
              <a:rPr sz="1900" spc="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carried</a:t>
            </a:r>
            <a:r>
              <a:rPr sz="1900" spc="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Times New Roman"/>
                <a:cs typeface="Times New Roman"/>
              </a:rPr>
              <a:t>out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through</a:t>
            </a:r>
            <a:r>
              <a:rPr sz="1900" spc="2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manual</a:t>
            </a:r>
            <a:r>
              <a:rPr sz="1900" spc="2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methods</a:t>
            </a:r>
            <a:r>
              <a:rPr sz="1900" spc="2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such</a:t>
            </a:r>
            <a:r>
              <a:rPr sz="1900" spc="2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19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personal</a:t>
            </a:r>
            <a:r>
              <a:rPr sz="1900" spc="2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contacts,</a:t>
            </a:r>
            <a:r>
              <a:rPr sz="1900" spc="2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local</a:t>
            </a:r>
            <a:r>
              <a:rPr sz="1900" spc="20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labor</a:t>
            </a:r>
            <a:r>
              <a:rPr sz="1900" spc="2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imes New Roman"/>
                <a:cs typeface="Times New Roman"/>
              </a:rPr>
              <a:t>contractors,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900" spc="22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900" spc="-10" dirty="0">
                <a:solidFill>
                  <a:srgbClr val="404040"/>
                </a:solidFill>
                <a:latin typeface="Times New Roman"/>
                <a:cs typeface="Times New Roman"/>
              </a:rPr>
              <a:t>word-of-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mouth</a:t>
            </a:r>
            <a:r>
              <a:rPr sz="1900" spc="22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communication.</a:t>
            </a:r>
            <a:r>
              <a:rPr sz="1900" spc="21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While</a:t>
            </a:r>
            <a:r>
              <a:rPr sz="1900" spc="22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several</a:t>
            </a:r>
            <a:r>
              <a:rPr sz="1900" spc="21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agricultural</a:t>
            </a:r>
            <a:r>
              <a:rPr sz="1900" spc="22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900" spc="-10" dirty="0">
                <a:solidFill>
                  <a:srgbClr val="404040"/>
                </a:solidFill>
                <a:latin typeface="Times New Roman"/>
                <a:cs typeface="Times New Roman"/>
              </a:rPr>
              <a:t>mobile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applications</a:t>
            </a:r>
            <a:r>
              <a:rPr sz="1900" spc="2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900" spc="2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available,</a:t>
            </a:r>
            <a:r>
              <a:rPr sz="1900" spc="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sz="1900" spc="3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primarily</a:t>
            </a:r>
            <a:r>
              <a:rPr sz="1900" spc="3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focus</a:t>
            </a:r>
            <a:r>
              <a:rPr sz="1900" spc="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1900" spc="3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advisory</a:t>
            </a:r>
            <a:r>
              <a:rPr sz="1900" spc="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services,</a:t>
            </a:r>
            <a:r>
              <a:rPr sz="1900" spc="3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Times New Roman"/>
                <a:cs typeface="Times New Roman"/>
              </a:rPr>
              <a:t>farm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machinery</a:t>
            </a:r>
            <a:r>
              <a:rPr sz="1900" spc="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rental,</a:t>
            </a:r>
            <a:r>
              <a:rPr sz="1900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9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market</a:t>
            </a:r>
            <a:r>
              <a:rPr sz="1900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price</a:t>
            </a:r>
            <a:r>
              <a:rPr sz="1900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information</a:t>
            </a:r>
            <a:r>
              <a:rPr sz="19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rather</a:t>
            </a:r>
            <a:r>
              <a:rPr sz="19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than</a:t>
            </a:r>
            <a:r>
              <a:rPr sz="1900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labor</a:t>
            </a:r>
            <a:r>
              <a:rPr sz="19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hiring</a:t>
            </a:r>
            <a:r>
              <a:rPr sz="19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land</a:t>
            </a:r>
            <a:r>
              <a:rPr sz="1900" spc="2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management.</a:t>
            </a:r>
            <a:r>
              <a:rPr sz="1900" spc="2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Applications</a:t>
            </a:r>
            <a:r>
              <a:rPr sz="1900" spc="2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like</a:t>
            </a:r>
            <a:r>
              <a:rPr sz="1900" spc="2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FARMS</a:t>
            </a:r>
            <a:r>
              <a:rPr sz="1900" spc="2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1900" spc="22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Farm</a:t>
            </a:r>
            <a:r>
              <a:rPr sz="1900" spc="20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Machinery</a:t>
            </a:r>
            <a:r>
              <a:rPr sz="1900" spc="2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imes New Roman"/>
                <a:cs typeface="Times New Roman"/>
              </a:rPr>
              <a:t>Solutions,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Kisan</a:t>
            </a:r>
            <a:r>
              <a:rPr sz="1900" spc="3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Sarathi,</a:t>
            </a:r>
            <a:r>
              <a:rPr sz="1900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Farmitra,</a:t>
            </a:r>
            <a:r>
              <a:rPr sz="19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900" spc="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KhetEase</a:t>
            </a:r>
            <a:r>
              <a:rPr sz="1900" spc="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support</a:t>
            </a:r>
            <a:r>
              <a:rPr sz="1900" spc="3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farmers</a:t>
            </a:r>
            <a:r>
              <a:rPr sz="1900" spc="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1900" spc="3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guidance</a:t>
            </a:r>
            <a:r>
              <a:rPr sz="1900" spc="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information</a:t>
            </a:r>
            <a:r>
              <a:rPr sz="19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but</a:t>
            </a:r>
            <a:r>
              <a:rPr sz="1900" spc="3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do</a:t>
            </a:r>
            <a:r>
              <a:rPr sz="1900" spc="3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not</a:t>
            </a:r>
            <a:r>
              <a:rPr sz="1900" spc="3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provide</a:t>
            </a:r>
            <a:r>
              <a:rPr sz="19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9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structured</a:t>
            </a:r>
            <a:r>
              <a:rPr sz="1900" spc="3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1900" spc="3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1900" spc="3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900" spc="4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imes New Roman"/>
                <a:cs typeface="Times New Roman"/>
              </a:rPr>
              <a:t>workforce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availability,</a:t>
            </a:r>
            <a:r>
              <a:rPr sz="1900" spc="3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wage</a:t>
            </a:r>
            <a:r>
              <a:rPr sz="1900" spc="3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transparency,</a:t>
            </a:r>
            <a:r>
              <a:rPr sz="1900" spc="3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1900" spc="3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imes New Roman"/>
                <a:cs typeface="Times New Roman"/>
              </a:rPr>
              <a:t>land-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sharing.</a:t>
            </a:r>
            <a:r>
              <a:rPr sz="1900" spc="3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1900" spc="3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900" spc="3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result,</a:t>
            </a:r>
            <a:r>
              <a:rPr sz="1900" spc="3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farmers</a:t>
            </a:r>
            <a:r>
              <a:rPr sz="1900" spc="3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Times New Roman"/>
                <a:cs typeface="Times New Roman"/>
              </a:rPr>
              <a:t>face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operational</a:t>
            </a:r>
            <a:r>
              <a:rPr sz="19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inefficiencies,</a:t>
            </a:r>
            <a:r>
              <a:rPr sz="19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especially</a:t>
            </a:r>
            <a:r>
              <a:rPr sz="19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during</a:t>
            </a:r>
            <a:r>
              <a:rPr sz="19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peak</a:t>
            </a:r>
            <a:r>
              <a:rPr sz="19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404040"/>
                </a:solidFill>
                <a:latin typeface="Times New Roman"/>
                <a:cs typeface="Times New Roman"/>
              </a:rPr>
              <a:t>agricultural</a:t>
            </a:r>
            <a:r>
              <a:rPr sz="19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imes New Roman"/>
                <a:cs typeface="Times New Roman"/>
              </a:rPr>
              <a:t>seasons.</a:t>
            </a:r>
            <a:endParaRPr sz="19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530"/>
              </a:spcBef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Drawback</a:t>
            </a:r>
            <a:r>
              <a:rPr sz="18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1800" b="1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Limitations</a:t>
            </a:r>
            <a:endParaRPr sz="1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130"/>
              </a:spcBef>
              <a:buClr>
                <a:srgbClr val="5FCAEE"/>
              </a:buClr>
              <a:buSzPct val="80555"/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Finding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workers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takes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more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time</a:t>
            </a:r>
            <a:endParaRPr sz="1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Clr>
                <a:srgbClr val="5FCAEE"/>
              </a:buClr>
              <a:buSzPct val="80555"/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No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clear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idea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 worker</a:t>
            </a:r>
            <a:r>
              <a:rPr sz="18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availability</a:t>
            </a:r>
            <a:endParaRPr sz="1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85"/>
              </a:spcBef>
              <a:buClr>
                <a:srgbClr val="5FCAEE"/>
              </a:buClr>
              <a:buSzPct val="80555"/>
              <a:buFont typeface="Arial MT"/>
              <a:buChar char="•"/>
              <a:tabLst>
                <a:tab pos="355600" algn="l"/>
              </a:tabLst>
            </a:pP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Wage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rates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not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transparent</a:t>
            </a:r>
            <a:endParaRPr sz="1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5FCAEE"/>
              </a:buClr>
              <a:buSzPct val="80555"/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Frequent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misunderstanding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disputes</a:t>
            </a:r>
            <a:endParaRPr sz="1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Clr>
                <a:srgbClr val="5FCAEE"/>
              </a:buClr>
              <a:buSzPct val="80555"/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Not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useful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during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urgent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labour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needs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46607"/>
            <a:ext cx="401192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/>
                <a:cs typeface="Times New Roman"/>
              </a:rPr>
              <a:t>PROPOSED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022350"/>
            <a:ext cx="7510145" cy="503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18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proposed</a:t>
            </a:r>
            <a:r>
              <a:rPr sz="1800" spc="16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1800" spc="1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1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1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smart</a:t>
            </a:r>
            <a:r>
              <a:rPr sz="1800" spc="1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sz="1800" spc="1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platform</a:t>
            </a:r>
            <a:r>
              <a:rPr sz="1800" spc="17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1800" spc="17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connects</a:t>
            </a:r>
            <a:r>
              <a:rPr sz="1800" spc="17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farmers,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agricultural</a:t>
            </a:r>
            <a:r>
              <a:rPr sz="1800" spc="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workers,</a:t>
            </a:r>
            <a:r>
              <a:rPr sz="1800" spc="3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2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landowners</a:t>
            </a:r>
            <a:r>
              <a:rPr sz="1800" spc="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through</a:t>
            </a:r>
            <a:r>
              <a:rPr sz="1800" spc="2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single</a:t>
            </a:r>
            <a:r>
              <a:rPr sz="1800" spc="2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application.</a:t>
            </a:r>
            <a:r>
              <a:rPr sz="1800" spc="3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1800" spc="2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uses</a:t>
            </a:r>
            <a:r>
              <a:rPr sz="1800" spc="3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AI-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sz="1800" spc="3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recommendations</a:t>
            </a:r>
            <a:r>
              <a:rPr sz="1800" spc="3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suggest</a:t>
            </a:r>
            <a:r>
              <a:rPr sz="1800" spc="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suitable</a:t>
            </a:r>
            <a:r>
              <a:rPr sz="1800" spc="3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workers</a:t>
            </a:r>
            <a:r>
              <a:rPr sz="1800" spc="3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sz="1800" spc="3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1800" spc="3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location,</a:t>
            </a:r>
            <a:r>
              <a:rPr sz="1800" spc="3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skills,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availability,</a:t>
            </a:r>
            <a:r>
              <a:rPr sz="1800" spc="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ratings.</a:t>
            </a:r>
            <a:r>
              <a:rPr sz="18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1800" spc="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also</a:t>
            </a:r>
            <a:r>
              <a:rPr sz="18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provides</a:t>
            </a:r>
            <a:r>
              <a:rPr sz="18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wage</a:t>
            </a:r>
            <a:r>
              <a:rPr sz="1800" spc="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estimation,</a:t>
            </a:r>
            <a:r>
              <a:rPr sz="1800" spc="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voice-based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interaction,</a:t>
            </a:r>
            <a:r>
              <a:rPr sz="1800" spc="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1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real-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time</a:t>
            </a:r>
            <a:r>
              <a:rPr sz="18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worker</a:t>
            </a:r>
            <a:r>
              <a:rPr sz="18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availability</a:t>
            </a:r>
            <a:r>
              <a:rPr sz="1800" spc="2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tracking.</a:t>
            </a:r>
            <a:r>
              <a:rPr sz="1800" spc="20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Additional</a:t>
            </a:r>
            <a:r>
              <a:rPr sz="1800" spc="1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features</a:t>
            </a:r>
            <a:r>
              <a:rPr sz="1800" spc="1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such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1800" spc="4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emergency</a:t>
            </a:r>
            <a:r>
              <a:rPr sz="1800" spc="45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Times New Roman"/>
                <a:cs typeface="Times New Roman"/>
              </a:rPr>
              <a:t>labour</a:t>
            </a:r>
            <a:r>
              <a:rPr sz="1800" spc="4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requests,</a:t>
            </a:r>
            <a:r>
              <a:rPr sz="1800" spc="4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land-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sharing</a:t>
            </a:r>
            <a:r>
              <a:rPr sz="1800" spc="459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options,</a:t>
            </a:r>
            <a:r>
              <a:rPr sz="1800" spc="4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4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weather</a:t>
            </a:r>
            <a:r>
              <a:rPr sz="1800" spc="4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alerts</a:t>
            </a:r>
            <a:r>
              <a:rPr sz="1800" spc="4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help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farmers</a:t>
            </a:r>
            <a:r>
              <a:rPr sz="18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make</a:t>
            </a:r>
            <a:r>
              <a:rPr sz="18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better</a:t>
            </a:r>
            <a:r>
              <a:rPr sz="18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decisions.</a:t>
            </a:r>
            <a:r>
              <a:rPr sz="18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Overall,</a:t>
            </a:r>
            <a:r>
              <a:rPr sz="18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platform</a:t>
            </a:r>
            <a:r>
              <a:rPr sz="18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simplifies</a:t>
            </a:r>
            <a:r>
              <a:rPr sz="180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 err="1">
                <a:solidFill>
                  <a:srgbClr val="404040"/>
                </a:solidFill>
                <a:latin typeface="Times New Roman"/>
                <a:cs typeface="Times New Roman"/>
              </a:rPr>
              <a:t>labour</a:t>
            </a:r>
            <a:r>
              <a:rPr sz="18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hiring</a:t>
            </a:r>
            <a:r>
              <a:rPr sz="18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land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while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improving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transparency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efficiency.</a:t>
            </a:r>
            <a:endParaRPr sz="18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Advantages</a:t>
            </a:r>
            <a:r>
              <a:rPr sz="18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Proposed</a:t>
            </a:r>
            <a:r>
              <a:rPr sz="18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10"/>
              </a:spcBef>
              <a:buClr>
                <a:srgbClr val="5FCAEE"/>
              </a:buClr>
              <a:buSzPct val="80555"/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Easy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quick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worker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selection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94"/>
              </a:spcBef>
              <a:buClr>
                <a:srgbClr val="5FCAEE"/>
              </a:buClr>
              <a:buSzPct val="80555"/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Fair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transparent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wage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estimation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94"/>
              </a:spcBef>
              <a:buClr>
                <a:srgbClr val="5FCAEE"/>
              </a:buClr>
              <a:buSzPct val="80555"/>
              <a:buFont typeface="Arial MT"/>
              <a:buChar char="•"/>
              <a:tabLst>
                <a:tab pos="299085" algn="l"/>
              </a:tabLst>
            </a:pP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Voice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support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rural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users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10"/>
              </a:spcBef>
              <a:buClr>
                <a:srgbClr val="5FCAEE"/>
              </a:buClr>
              <a:buSzPct val="80555"/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Real-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time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worker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availability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tracking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94"/>
              </a:spcBef>
              <a:buClr>
                <a:srgbClr val="5FCAEE"/>
              </a:buClr>
              <a:buSzPct val="80555"/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Emergency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labour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support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00"/>
              </a:spcBef>
              <a:buClr>
                <a:srgbClr val="5FCAEE"/>
              </a:buClr>
              <a:buSzPct val="80555"/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Better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use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land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resources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B77F9-C7F8-673D-3DCB-D91FDB7CF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70" y="452755"/>
            <a:ext cx="7430363" cy="5539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D21947-2242-6119-26A0-1DF9367D8CCA}"/>
              </a:ext>
            </a:extLst>
          </p:cNvPr>
          <p:cNvSpPr/>
          <p:nvPr/>
        </p:nvSpPr>
        <p:spPr>
          <a:xfrm>
            <a:off x="2667000" y="1295400"/>
            <a:ext cx="2438400" cy="304800"/>
          </a:xfrm>
          <a:prstGeom prst="rect">
            <a:avLst/>
          </a:prstGeom>
          <a:solidFill>
            <a:srgbClr val="FEFEF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utoShape 2" descr=", AI generated">
            <a:extLst>
              <a:ext uri="{FF2B5EF4-FFF2-40B4-BE49-F238E27FC236}">
                <a16:creationId xmlns:a16="http://schemas.microsoft.com/office/drawing/2014/main" id="{51ABBC11-0342-B216-DE77-D42E77BB71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5F69E2-F90D-377D-B1A4-9C42B2063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83" y="1600200"/>
            <a:ext cx="6178233" cy="411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945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9FCE3-2D98-991B-16B7-B6D1033F6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70" y="452755"/>
            <a:ext cx="7430363" cy="5539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E2DF1-D01B-0F97-2059-BFF04B672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123156"/>
            <a:ext cx="7714615" cy="1046440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  <a:p>
            <a:r>
              <a:rPr lang="en-IN" sz="1600" dirty="0"/>
              <a:t>Shows who uses the</a:t>
            </a:r>
            <a:r>
              <a:rPr lang="en-IN" sz="1600" dirty="0">
                <a:solidFill>
                  <a:srgbClr val="000000"/>
                </a:solidFill>
              </a:rPr>
              <a:t> Farmer</a:t>
            </a:r>
            <a:r>
              <a:rPr lang="en-IN" sz="1600" spc="-135" dirty="0">
                <a:solidFill>
                  <a:srgbClr val="000000"/>
                </a:solidFill>
              </a:rPr>
              <a:t> </a:t>
            </a:r>
            <a:r>
              <a:rPr lang="en-IN" sz="1600" dirty="0">
                <a:solidFill>
                  <a:srgbClr val="000000"/>
                </a:solidFill>
              </a:rPr>
              <a:t>LinkedIn</a:t>
            </a:r>
            <a:r>
              <a:rPr lang="en-IN" sz="1600" dirty="0"/>
              <a:t> system (</a:t>
            </a:r>
            <a:r>
              <a:rPr lang="en-IN" sz="1600" b="1" dirty="0"/>
              <a:t>Farmer, Worker, </a:t>
            </a:r>
            <a:r>
              <a:rPr lang="en-IN" sz="1600" b="1" dirty="0" err="1"/>
              <a:t>Kavulu</a:t>
            </a:r>
            <a:r>
              <a:rPr lang="en-IN" sz="1600" b="1" dirty="0"/>
              <a:t>-Farmer, Admin</a:t>
            </a:r>
            <a:r>
              <a:rPr lang="en-IN" sz="1600" dirty="0"/>
              <a:t>) and what actions they can perform such as posting jobs, applying for jobs, requesting land, and managing the platform.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D7C653-E98A-7F78-29F6-7903CCBAD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77037"/>
            <a:ext cx="6332599" cy="432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653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9E89C-5944-AF24-6BEA-8D8585CE4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70" y="284202"/>
            <a:ext cx="7430363" cy="5539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76E59-29AF-9DAB-3C45-9FCE278DF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830759"/>
            <a:ext cx="7714615" cy="76944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  <a:p>
            <a:r>
              <a:rPr lang="en-IN" sz="1600" dirty="0"/>
              <a:t>Shows the structure of the Farmer LinkedIn system by representing the main classes (User, Job, Application, </a:t>
            </a:r>
            <a:r>
              <a:rPr lang="en-IN" sz="1600" dirty="0" err="1"/>
              <a:t>LandListing</a:t>
            </a:r>
            <a:r>
              <a:rPr lang="en-IN" sz="1600" dirty="0"/>
              <a:t>, Notification, Admin) and the relationships between them.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086ABA-D624-9757-1F26-B907B8DAB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52600"/>
            <a:ext cx="7424529" cy="4953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23FBE5-93F2-7395-CEB6-480842920332}"/>
              </a:ext>
            </a:extLst>
          </p:cNvPr>
          <p:cNvSpPr txBox="1"/>
          <p:nvPr/>
        </p:nvSpPr>
        <p:spPr>
          <a:xfrm>
            <a:off x="1371600" y="2743200"/>
            <a:ext cx="7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ECEF86-7601-C654-6E97-FCB92424B05B}"/>
              </a:ext>
            </a:extLst>
          </p:cNvPr>
          <p:cNvSpPr txBox="1"/>
          <p:nvPr/>
        </p:nvSpPr>
        <p:spPr>
          <a:xfrm>
            <a:off x="1295400" y="3364468"/>
            <a:ext cx="227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D19D56-DB7B-71F0-B1B4-C6510E1E38DF}"/>
              </a:ext>
            </a:extLst>
          </p:cNvPr>
          <p:cNvSpPr txBox="1"/>
          <p:nvPr/>
        </p:nvSpPr>
        <p:spPr>
          <a:xfrm>
            <a:off x="1982470" y="4126468"/>
            <a:ext cx="227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DB102F-DC30-AC75-9DB4-39EFC3BC8579}"/>
              </a:ext>
            </a:extLst>
          </p:cNvPr>
          <p:cNvSpPr txBox="1"/>
          <p:nvPr/>
        </p:nvSpPr>
        <p:spPr>
          <a:xfrm>
            <a:off x="1828800" y="2286000"/>
            <a:ext cx="227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C084F2-49C8-AABF-8AA7-3A3AAFE479D9}"/>
              </a:ext>
            </a:extLst>
          </p:cNvPr>
          <p:cNvSpPr txBox="1"/>
          <p:nvPr/>
        </p:nvSpPr>
        <p:spPr>
          <a:xfrm>
            <a:off x="3049270" y="2286000"/>
            <a:ext cx="227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61F513-01AE-8CB6-6C53-2E5C2EA30E53}"/>
              </a:ext>
            </a:extLst>
          </p:cNvPr>
          <p:cNvSpPr txBox="1"/>
          <p:nvPr/>
        </p:nvSpPr>
        <p:spPr>
          <a:xfrm>
            <a:off x="3887470" y="2754868"/>
            <a:ext cx="227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F0CFFF-F87E-A8F7-AA13-AF3D89047DE1}"/>
              </a:ext>
            </a:extLst>
          </p:cNvPr>
          <p:cNvSpPr txBox="1"/>
          <p:nvPr/>
        </p:nvSpPr>
        <p:spPr>
          <a:xfrm>
            <a:off x="1295400" y="4648200"/>
            <a:ext cx="227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52A85D-F5EA-898D-0AAB-C47DE8EEC273}"/>
              </a:ext>
            </a:extLst>
          </p:cNvPr>
          <p:cNvSpPr txBox="1"/>
          <p:nvPr/>
        </p:nvSpPr>
        <p:spPr>
          <a:xfrm>
            <a:off x="1295400" y="5257800"/>
            <a:ext cx="227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0F8F4C-C8C9-CD2A-9B16-A6658BAFB5EA}"/>
              </a:ext>
            </a:extLst>
          </p:cNvPr>
          <p:cNvSpPr txBox="1"/>
          <p:nvPr/>
        </p:nvSpPr>
        <p:spPr>
          <a:xfrm>
            <a:off x="1981200" y="5726668"/>
            <a:ext cx="227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83D734-4C1D-BE23-A529-5D510875C5F8}"/>
              </a:ext>
            </a:extLst>
          </p:cNvPr>
          <p:cNvSpPr txBox="1"/>
          <p:nvPr/>
        </p:nvSpPr>
        <p:spPr>
          <a:xfrm>
            <a:off x="6019800" y="3897868"/>
            <a:ext cx="227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D1C415-29E1-4498-C404-88539426DD33}"/>
              </a:ext>
            </a:extLst>
          </p:cNvPr>
          <p:cNvSpPr txBox="1"/>
          <p:nvPr/>
        </p:nvSpPr>
        <p:spPr>
          <a:xfrm>
            <a:off x="3277870" y="5715000"/>
            <a:ext cx="227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52CDF6-FB99-2288-D946-AE409789B569}"/>
              </a:ext>
            </a:extLst>
          </p:cNvPr>
          <p:cNvSpPr txBox="1"/>
          <p:nvPr/>
        </p:nvSpPr>
        <p:spPr>
          <a:xfrm>
            <a:off x="6705600" y="4507468"/>
            <a:ext cx="227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ECD55B-D851-7CF4-B604-521AB2EAEE67}"/>
              </a:ext>
            </a:extLst>
          </p:cNvPr>
          <p:cNvSpPr txBox="1"/>
          <p:nvPr/>
        </p:nvSpPr>
        <p:spPr>
          <a:xfrm>
            <a:off x="3887470" y="3304401"/>
            <a:ext cx="227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</a:t>
            </a:r>
            <a:endParaRPr lang="en-IN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019EE5-5D89-4340-6C0E-AAFC35470756}"/>
              </a:ext>
            </a:extLst>
          </p:cNvPr>
          <p:cNvSpPr txBox="1"/>
          <p:nvPr/>
        </p:nvSpPr>
        <p:spPr>
          <a:xfrm>
            <a:off x="3201670" y="3853190"/>
            <a:ext cx="2273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1</a:t>
            </a:r>
            <a:endParaRPr lang="en-IN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724203-04C4-8CCD-BA71-4AC789070726}"/>
              </a:ext>
            </a:extLst>
          </p:cNvPr>
          <p:cNvSpPr txBox="1"/>
          <p:nvPr/>
        </p:nvSpPr>
        <p:spPr>
          <a:xfrm>
            <a:off x="4954270" y="3853190"/>
            <a:ext cx="2273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1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015232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C8C1E-F8D6-E759-1942-D5F61FAAA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70" y="452755"/>
            <a:ext cx="7430363" cy="5539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A6B0F-3C68-3D82-9EC0-3B2B01486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4370" y="1524000"/>
            <a:ext cx="7714615" cy="120999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  <a:p>
            <a:r>
              <a:rPr lang="en-IN" sz="1600" dirty="0"/>
              <a:t>Shows the order of interactions between different components (Farmer, Worker, System/Backend, Database) over time to complete a process such as posting a job, applying for a job, and selecting a worker in the Farmer LinkedIn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6684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3DBF47-C198-CDE7-C83D-BD20B757C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0"/>
            <a:ext cx="762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62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FFA7C-305C-EFBE-573A-D274D4253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70" y="452755"/>
            <a:ext cx="7430363" cy="5539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27CAE-F206-7B1A-6D45-4EDC7AB1B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4370" y="1066800"/>
            <a:ext cx="7714615" cy="1107996"/>
          </a:xfrm>
        </p:spPr>
        <p:txBody>
          <a:bodyPr/>
          <a:lstStyle/>
          <a:p>
            <a:r>
              <a:rPr lang="en-IN" b="1" dirty="0"/>
              <a:t>Activity Diagram:</a:t>
            </a:r>
            <a:br>
              <a:rPr lang="en-IN" dirty="0"/>
            </a:br>
            <a:r>
              <a:rPr lang="en-IN" dirty="0"/>
              <a:t>Shows the workflow of the </a:t>
            </a:r>
            <a:r>
              <a:rPr lang="en-IN" dirty="0" err="1"/>
              <a:t>AgroConnect</a:t>
            </a:r>
            <a:r>
              <a:rPr lang="en-IN" dirty="0"/>
              <a:t> system by illustrating the sequence of activities such as user registration, posting jobs, applying for jobs, selecting workers, and requesting land, along with the decision points in the process.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BC49F8-B755-73A9-4CBE-9F6597B18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234843"/>
            <a:ext cx="3745894" cy="453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42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52CD8-FA38-4377-146F-5C3232841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576" y="304800"/>
            <a:ext cx="7430363" cy="5539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Specifications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35E70-A917-4109-1F38-C840EC303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920889"/>
            <a:ext cx="7714615" cy="563231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IN" b="1" dirty="0"/>
              <a:t>Hardware Requirements</a:t>
            </a:r>
          </a:p>
          <a:p>
            <a:r>
              <a:rPr lang="en-IN" sz="1700" dirty="0"/>
              <a:t>Processor: Intel i5 or equivalent</a:t>
            </a:r>
            <a:br>
              <a:rPr lang="en-IN" sz="1700" dirty="0"/>
            </a:br>
            <a:r>
              <a:rPr lang="en-IN" sz="1700" dirty="0"/>
              <a:t>RAM: Minimum 4 GB (8 GB recommended)</a:t>
            </a:r>
            <a:br>
              <a:rPr lang="en-IN" sz="1700" dirty="0"/>
            </a:br>
            <a:r>
              <a:rPr lang="en-IN" sz="1700" dirty="0"/>
              <a:t>Storage: 256 GB SSD or higher</a:t>
            </a:r>
            <a:br>
              <a:rPr lang="en-IN" sz="1700" dirty="0"/>
            </a:br>
            <a:r>
              <a:rPr lang="en-IN" sz="1700" dirty="0"/>
              <a:t>Internet Connection: Required for cloud deployment</a:t>
            </a:r>
          </a:p>
          <a:p>
            <a:r>
              <a:rPr lang="en-IN" b="1" dirty="0"/>
              <a:t>2.  Software Requirements</a:t>
            </a:r>
          </a:p>
          <a:p>
            <a:r>
              <a:rPr lang="en-IN" sz="1700" dirty="0"/>
              <a:t>Operating System: Windows</a:t>
            </a:r>
            <a:br>
              <a:rPr lang="en-IN" sz="1700" dirty="0"/>
            </a:br>
            <a:r>
              <a:rPr lang="en-IN" sz="1700" dirty="0"/>
              <a:t>Programming Language: Java</a:t>
            </a:r>
            <a:br>
              <a:rPr lang="en-IN" sz="1700" dirty="0"/>
            </a:br>
            <a:r>
              <a:rPr lang="en-IN" sz="1700" dirty="0"/>
              <a:t>Framework: Spring Boot</a:t>
            </a:r>
            <a:br>
              <a:rPr lang="en-IN" sz="1700" dirty="0"/>
            </a:br>
            <a:r>
              <a:rPr lang="en-IN" sz="1700" dirty="0"/>
              <a:t>Frontend Technologies: HTML, CSS, JavaScript</a:t>
            </a:r>
            <a:br>
              <a:rPr lang="en-IN" sz="1700" dirty="0"/>
            </a:br>
            <a:r>
              <a:rPr lang="en-IN" sz="1700" dirty="0"/>
              <a:t>Database: MySQL</a:t>
            </a:r>
            <a:br>
              <a:rPr lang="en-IN" sz="1700" dirty="0"/>
            </a:br>
            <a:r>
              <a:rPr lang="en-IN" sz="1700" dirty="0"/>
              <a:t>Cloud Platform: AWS (EC2, RDS, S3)</a:t>
            </a:r>
            <a:br>
              <a:rPr lang="en-IN" sz="1700" dirty="0"/>
            </a:br>
            <a:r>
              <a:rPr lang="en-IN" sz="1700" dirty="0"/>
              <a:t>Development Tools: VS Code</a:t>
            </a:r>
            <a:br>
              <a:rPr lang="en-IN" sz="1700" dirty="0"/>
            </a:br>
            <a:r>
              <a:rPr lang="en-IN" sz="1700" dirty="0"/>
              <a:t>Web Browser: Google Chrome</a:t>
            </a:r>
          </a:p>
          <a:p>
            <a:r>
              <a:rPr lang="en-IN" b="1" dirty="0"/>
              <a:t>3. Technologies Used</a:t>
            </a:r>
          </a:p>
          <a:p>
            <a:r>
              <a:rPr lang="en-IN" sz="1700" dirty="0"/>
              <a:t>Backend: Spring Boot (Java)</a:t>
            </a:r>
            <a:br>
              <a:rPr lang="en-IN" sz="1700" dirty="0"/>
            </a:br>
            <a:r>
              <a:rPr lang="en-IN" sz="1700" dirty="0"/>
              <a:t>Database Management: MySQL (AWS RDS)</a:t>
            </a:r>
            <a:br>
              <a:rPr lang="en-IN" sz="1700" dirty="0"/>
            </a:br>
            <a:r>
              <a:rPr lang="en-IN" sz="1700" dirty="0"/>
              <a:t>Cloud Hosting: AWS EC2</a:t>
            </a:r>
            <a:br>
              <a:rPr lang="en-IN" sz="1700" dirty="0"/>
            </a:br>
            <a:r>
              <a:rPr lang="en-IN" sz="1700" dirty="0"/>
              <a:t>File Storage: AWS S3</a:t>
            </a:r>
            <a:br>
              <a:rPr lang="en-IN" sz="1700" dirty="0"/>
            </a:br>
            <a:r>
              <a:rPr lang="en-IN" sz="1700" dirty="0"/>
              <a:t>API Communication: REST APIs</a:t>
            </a:r>
            <a:br>
              <a:rPr lang="en-IN" sz="1700" dirty="0"/>
            </a:br>
            <a:r>
              <a:rPr lang="en-IN" sz="1700" dirty="0"/>
              <a:t>Security: JWT Authentication and Role-Based Access Control</a:t>
            </a:r>
          </a:p>
        </p:txBody>
      </p:sp>
    </p:spTree>
    <p:extLst>
      <p:ext uri="{BB962C8B-B14F-4D97-AF65-F5344CB8AC3E}">
        <p14:creationId xmlns:p14="http://schemas.microsoft.com/office/powerpoint/2010/main" val="1366513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24893-6FCA-9BAA-46C3-C43E283FD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3" y="207411"/>
            <a:ext cx="7430363" cy="5539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F8558-2D86-3399-873C-8117F6654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203" y="758951"/>
            <a:ext cx="7714615" cy="1908215"/>
          </a:xfrm>
        </p:spPr>
        <p:txBody>
          <a:bodyPr/>
          <a:lstStyle/>
          <a:p>
            <a:r>
              <a:rPr lang="en-IN" b="1" dirty="0"/>
              <a:t>1. User Authentication Module </a:t>
            </a:r>
            <a:endParaRPr lang="en-IN" sz="1600" dirty="0"/>
          </a:p>
          <a:p>
            <a:endParaRPr lang="en-IN" dirty="0"/>
          </a:p>
          <a:p>
            <a:r>
              <a:rPr lang="en-IN" b="1" dirty="0"/>
              <a:t>2. Job Management Module</a:t>
            </a:r>
          </a:p>
          <a:p>
            <a:endParaRPr lang="en-IN" b="1" dirty="0"/>
          </a:p>
          <a:p>
            <a:r>
              <a:rPr lang="en-IN" b="1" dirty="0"/>
              <a:t>3. Land Management Module </a:t>
            </a:r>
            <a:endParaRPr lang="en-IN" sz="1600" b="1" dirty="0"/>
          </a:p>
          <a:p>
            <a:endParaRPr lang="en-IN" sz="1600" b="1" dirty="0"/>
          </a:p>
          <a:p>
            <a:r>
              <a:rPr lang="en-IN" b="1" dirty="0"/>
              <a:t>4. Admin Management Module</a:t>
            </a:r>
          </a:p>
        </p:txBody>
      </p:sp>
    </p:spTree>
    <p:extLst>
      <p:ext uri="{BB962C8B-B14F-4D97-AF65-F5344CB8AC3E}">
        <p14:creationId xmlns:p14="http://schemas.microsoft.com/office/powerpoint/2010/main" val="186982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6ED0F-D513-7C30-A6F4-CB3BE4ED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0967"/>
            <a:ext cx="7430363" cy="49244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0F62E3-4FAF-1D80-F292-B0B4131E14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31857"/>
            <a:ext cx="2591345" cy="23107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F95B0C-673F-91C7-B202-F7FF10A327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823" y="731857"/>
            <a:ext cx="5007372" cy="2288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4B8FD1-97B6-FF67-4C8C-C9CEE5AB8B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190158"/>
            <a:ext cx="4648200" cy="15502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866D9C-496F-25C7-68D2-FA4F0212FB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16" y="4800600"/>
            <a:ext cx="5666584" cy="174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01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B94F9-2C86-A246-CA27-683EB5AD4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70" y="452755"/>
            <a:ext cx="7430363" cy="49244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8DB2196-FA1C-9868-D8EB-4081EEDE7F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4370" y="1143000"/>
            <a:ext cx="676463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AgroConnect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provides a digital platform that connects farmers, workers,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kavulu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farmers in a simple and efficient way . The system enables farmers to post job requirements and land availability, while workers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kavulu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farmers can easily find and apply for opportunities based on their needs and location . By eliminating communication gaps and improving accessibility,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AgroConnect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enhances coordination in agricultural activities . The project demonstrates how technology can be used to simplify real-world problems in the farming sector 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Futureimprovements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include payment integration, advanced location tracking, and mobile application support.</a:t>
            </a:r>
          </a:p>
        </p:txBody>
      </p:sp>
    </p:spTree>
    <p:extLst>
      <p:ext uri="{BB962C8B-B14F-4D97-AF65-F5344CB8AC3E}">
        <p14:creationId xmlns:p14="http://schemas.microsoft.com/office/powerpoint/2010/main" val="3087405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6CE50-9DC3-B387-F440-A131D45D1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70" y="452755"/>
            <a:ext cx="7430363" cy="49244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E8F1F-7004-90E9-D8A1-6B469D17C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4370" y="1219200"/>
            <a:ext cx="7714615" cy="1938992"/>
          </a:xfrm>
        </p:spPr>
        <p:txBody>
          <a:bodyPr/>
          <a:lstStyle/>
          <a:p>
            <a:r>
              <a:rPr lang="en-IN" dirty="0" err="1"/>
              <a:t>FastAPI</a:t>
            </a:r>
            <a:r>
              <a:rPr lang="en-IN" dirty="0"/>
              <a:t> Documentation – </a:t>
            </a:r>
            <a:r>
              <a:rPr lang="en-IN" dirty="0">
                <a:hlinkClick r:id="rId2"/>
              </a:rPr>
              <a:t>https://fastapi.tiangolo.com/</a:t>
            </a:r>
            <a:r>
              <a:rPr lang="en-IN" dirty="0"/>
              <a:t> </a:t>
            </a:r>
          </a:p>
          <a:p>
            <a:r>
              <a:rPr lang="en-IN" dirty="0"/>
              <a:t>Spring Boot Documentation – </a:t>
            </a:r>
            <a:r>
              <a:rPr lang="en-IN" dirty="0">
                <a:hlinkClick r:id="rId3"/>
              </a:rPr>
              <a:t>https://spring.io/projects/spring-boot</a:t>
            </a:r>
            <a:r>
              <a:rPr lang="en-IN" dirty="0"/>
              <a:t> </a:t>
            </a:r>
          </a:p>
          <a:p>
            <a:r>
              <a:rPr lang="en-IN" dirty="0"/>
              <a:t>MySQL Documentation – </a:t>
            </a:r>
            <a:r>
              <a:rPr lang="en-IN" dirty="0">
                <a:hlinkClick r:id="rId4"/>
              </a:rPr>
              <a:t>https://dev.mysql.com/doc/</a:t>
            </a:r>
            <a:r>
              <a:rPr lang="en-IN" dirty="0"/>
              <a:t> </a:t>
            </a:r>
          </a:p>
          <a:p>
            <a:r>
              <a:rPr lang="en-IN" dirty="0"/>
              <a:t>UML Official Documentation – </a:t>
            </a:r>
            <a:r>
              <a:rPr lang="en-IN" dirty="0">
                <a:hlinkClick r:id="rId5"/>
              </a:rPr>
              <a:t>https://www.uml.org/</a:t>
            </a:r>
            <a:r>
              <a:rPr lang="en-IN" dirty="0"/>
              <a:t> </a:t>
            </a:r>
          </a:p>
          <a:p>
            <a:r>
              <a:rPr lang="en-IN" dirty="0"/>
              <a:t>W3Schools (Web Development Reference) – </a:t>
            </a:r>
            <a:r>
              <a:rPr lang="en-IN" dirty="0">
                <a:hlinkClick r:id="rId6"/>
              </a:rPr>
              <a:t>https://www.w3schools.com/</a:t>
            </a:r>
            <a:r>
              <a:rPr lang="en-IN" dirty="0"/>
              <a:t> </a:t>
            </a:r>
          </a:p>
          <a:p>
            <a:r>
              <a:rPr lang="en-IN" dirty="0"/>
              <a:t>Stack Overflow (Developer Community) – </a:t>
            </a:r>
            <a:r>
              <a:rPr lang="en-IN" dirty="0">
                <a:hlinkClick r:id="rId7"/>
              </a:rPr>
              <a:t>https://stackoverflow.com/</a:t>
            </a:r>
            <a:r>
              <a:rPr lang="en-IN" dirty="0"/>
              <a:t> </a:t>
            </a:r>
          </a:p>
          <a:p>
            <a:r>
              <a:rPr lang="en-IN" dirty="0"/>
              <a:t>GitHub Documentation – </a:t>
            </a:r>
            <a:r>
              <a:rPr lang="en-IN" dirty="0">
                <a:hlinkClick r:id="rId8"/>
              </a:rPr>
              <a:t>https://docs.github.com/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0958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7182" y="3095625"/>
            <a:ext cx="2933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1" dirty="0">
                <a:solidFill>
                  <a:srgbClr val="404040"/>
                </a:solidFill>
                <a:latin typeface="Times New Roman"/>
                <a:cs typeface="Times New Roman"/>
              </a:rPr>
              <a:t>THANK</a:t>
            </a:r>
            <a:r>
              <a:rPr sz="4000" i="1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4000" i="1" spc="-25" dirty="0">
                <a:solidFill>
                  <a:srgbClr val="404040"/>
                </a:solidFill>
                <a:latin typeface="Times New Roman"/>
                <a:cs typeface="Times New Roman"/>
              </a:rPr>
              <a:t>YOU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785</TotalTime>
  <Words>1197</Words>
  <Application>Microsoft Office PowerPoint</Application>
  <PresentationFormat>On-screen Show (4:3)</PresentationFormat>
  <Paragraphs>104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MT</vt:lpstr>
      <vt:lpstr>Segoe UI Symbol</vt:lpstr>
      <vt:lpstr>Times New Roman</vt:lpstr>
      <vt:lpstr>Trebuchet MS</vt:lpstr>
      <vt:lpstr>Office Theme</vt:lpstr>
      <vt:lpstr>TEEGALA KRISHNA REDDY ENGINEERING COLLEGE (Approved By AICTE , Affiliated To JNTUH, Accredited By NBA And NAAC)</vt:lpstr>
      <vt:lpstr>Farmer LinkedIn (Smart Agri Workforce Platform)</vt:lpstr>
      <vt:lpstr>CONTENTS</vt:lpstr>
      <vt:lpstr>ABSTRACT</vt:lpstr>
      <vt:lpstr>INTRODUCTION</vt:lpstr>
      <vt:lpstr>EXISTING SYSTEM</vt:lpstr>
      <vt:lpstr>PROPOSED SYSTEM</vt:lpstr>
      <vt:lpstr>System Architecture</vt:lpstr>
      <vt:lpstr>UML Diagrams</vt:lpstr>
      <vt:lpstr>UML Diagrams</vt:lpstr>
      <vt:lpstr>UML Diagrams</vt:lpstr>
      <vt:lpstr>PowerPoint Presentation</vt:lpstr>
      <vt:lpstr>UML Diagrams</vt:lpstr>
      <vt:lpstr>System Specifications</vt:lpstr>
      <vt:lpstr>MODULES</vt:lpstr>
      <vt:lpstr>Output Screens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chaitanya varma Dalapathirao</cp:lastModifiedBy>
  <cp:revision>9</cp:revision>
  <dcterms:created xsi:type="dcterms:W3CDTF">2026-03-08T19:00:35Z</dcterms:created>
  <dcterms:modified xsi:type="dcterms:W3CDTF">2026-04-03T21:42:59Z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2026-01-30T00:00:00Z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2026-03-08T00:00:00Z</vt:filetime>
  </property>
  <property fmtid="{D5CDD505-2E9C-101B-9397-08002B2CF9AE}" pid="5" name="Producer">
    <vt:lpwstr>Microsoft® PowerPoint® 2021</vt:lpwstr>
  </property>
</Properties>
</file>